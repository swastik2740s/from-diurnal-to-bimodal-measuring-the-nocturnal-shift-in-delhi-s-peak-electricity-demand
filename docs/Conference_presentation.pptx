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7" r:id="rId7"/>
    <p:sldId id="268" r:id="rId8"/>
    <p:sldId id="262" r:id="rId9"/>
    <p:sldId id="263" r:id="rId10"/>
    <p:sldId id="264" r:id="rId11"/>
    <p:sldId id="265" r:id="rId12"/>
    <p:sldId id="266" r:id="rId13"/>
    <p:sldId id="269" r:id="rId14"/>
    <p:sldId id="270" r:id="rId15"/>
    <p:sldId id="258"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iv7ofPKLJIXWqB3P9gSr7CsKnV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 name="Google Shape;4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3499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sp>
        <p:nvSpPr>
          <p:cNvPr id="17" name="Google Shape;17;p5"/>
          <p:cNvSpPr txBox="1">
            <a:spLocks noGrp="1"/>
          </p:cNvSpPr>
          <p:nvPr>
            <p:ph type="ctrTitle"/>
          </p:nvPr>
        </p:nvSpPr>
        <p:spPr>
          <a:xfrm>
            <a:off x="1524000" y="1866003"/>
            <a:ext cx="9144000" cy="156775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640"/>
              </a:spcBef>
              <a:spcAft>
                <a:spcPts val="0"/>
              </a:spcAft>
              <a:buSzPts val="3200"/>
              <a:buFont typeface="Arial"/>
              <a:buNone/>
              <a:defRPr sz="3200" b="1">
                <a:solidFill>
                  <a:srgbClr val="006DA4"/>
                </a:solidFill>
                <a:latin typeface="Arial"/>
                <a:ea typeface="Arial"/>
                <a:cs typeface="Arial"/>
                <a:sym typeface="Arial"/>
              </a:defRPr>
            </a:lvl1pPr>
            <a:lvl2pPr lvl="1">
              <a:spcBef>
                <a:spcPts val="18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8" name="Google Shape;18;p5"/>
          <p:cNvCxnSpPr/>
          <p:nvPr/>
        </p:nvCxnSpPr>
        <p:spPr>
          <a:xfrm>
            <a:off x="-9517" y="1574800"/>
            <a:ext cx="12192000" cy="0"/>
          </a:xfrm>
          <a:prstGeom prst="straightConnector1">
            <a:avLst/>
          </a:prstGeom>
          <a:noFill/>
          <a:ln w="57150" cap="flat" cmpd="sng">
            <a:solidFill>
              <a:srgbClr val="EE8404"/>
            </a:solidFill>
            <a:prstDash val="solid"/>
            <a:miter lim="8000"/>
            <a:headEnd type="none" w="sm" len="sm"/>
            <a:tailEnd type="none" w="sm" len="sm"/>
          </a:ln>
        </p:spPr>
      </p:cxnSp>
      <p:cxnSp>
        <p:nvCxnSpPr>
          <p:cNvPr id="19" name="Google Shape;19;p5"/>
          <p:cNvCxnSpPr/>
          <p:nvPr/>
        </p:nvCxnSpPr>
        <p:spPr>
          <a:xfrm>
            <a:off x="0" y="1642097"/>
            <a:ext cx="12192000" cy="0"/>
          </a:xfrm>
          <a:prstGeom prst="straightConnector1">
            <a:avLst/>
          </a:prstGeom>
          <a:noFill/>
          <a:ln w="28575" cap="flat" cmpd="sng">
            <a:solidFill>
              <a:srgbClr val="002060"/>
            </a:solidFill>
            <a:prstDash val="solid"/>
            <a:miter lim="8000"/>
            <a:headEnd type="none" w="sm" len="sm"/>
            <a:tailEnd type="none" w="sm" len="sm"/>
          </a:ln>
        </p:spPr>
      </p:cxnSp>
      <p:cxnSp>
        <p:nvCxnSpPr>
          <p:cNvPr id="20" name="Google Shape;20;p5"/>
          <p:cNvCxnSpPr/>
          <p:nvPr/>
        </p:nvCxnSpPr>
        <p:spPr>
          <a:xfrm>
            <a:off x="-9517" y="6306125"/>
            <a:ext cx="12201517" cy="0"/>
          </a:xfrm>
          <a:prstGeom prst="straightConnector1">
            <a:avLst/>
          </a:prstGeom>
          <a:noFill/>
          <a:ln w="38100" cap="flat" cmpd="sng">
            <a:solidFill>
              <a:srgbClr val="002060"/>
            </a:solidFill>
            <a:prstDash val="solid"/>
            <a:miter lim="8000"/>
            <a:headEnd type="none" w="sm" len="sm"/>
            <a:tailEnd type="none" w="sm" len="sm"/>
          </a:ln>
        </p:spPr>
      </p:cxnSp>
      <p:sp>
        <p:nvSpPr>
          <p:cNvPr id="21" name="Google Shape;21;p5"/>
          <p:cNvSpPr txBox="1">
            <a:spLocks noGrp="1"/>
          </p:cNvSpPr>
          <p:nvPr>
            <p:ph type="subTitle" idx="1"/>
          </p:nvPr>
        </p:nvSpPr>
        <p:spPr>
          <a:xfrm>
            <a:off x="1524000" y="3797618"/>
            <a:ext cx="9144000" cy="60414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
              </a:spcBef>
              <a:spcAft>
                <a:spcPts val="0"/>
              </a:spcAft>
              <a:buClr>
                <a:srgbClr val="F57F29"/>
              </a:buClr>
              <a:buSzPts val="2400"/>
              <a:buFont typeface="Arial"/>
              <a:buNone/>
              <a:defRPr sz="2400">
                <a:solidFill>
                  <a:srgbClr val="F57F29"/>
                </a:solidFill>
                <a:latin typeface="Arial"/>
                <a:ea typeface="Arial"/>
                <a:cs typeface="Arial"/>
                <a:sym typeface="Arial"/>
              </a:defRPr>
            </a:lvl1pPr>
            <a:lvl2pPr lvl="1" algn="ctr">
              <a:lnSpc>
                <a:spcPct val="90000"/>
              </a:lnSpc>
              <a:spcBef>
                <a:spcPts val="600"/>
              </a:spcBef>
              <a:spcAft>
                <a:spcPts val="0"/>
              </a:spcAft>
              <a:buClr>
                <a:srgbClr val="002060"/>
              </a:buClr>
              <a:buSzPts val="2000"/>
              <a:buNone/>
              <a:defRPr sz="2000"/>
            </a:lvl2pPr>
            <a:lvl3pPr lvl="2" algn="ctr">
              <a:lnSpc>
                <a:spcPct val="90000"/>
              </a:lnSpc>
              <a:spcBef>
                <a:spcPts val="500"/>
              </a:spcBef>
              <a:spcAft>
                <a:spcPts val="0"/>
              </a:spcAft>
              <a:buClr>
                <a:srgbClr val="002060"/>
              </a:buClr>
              <a:buSzPts val="1800"/>
              <a:buNone/>
              <a:defRPr sz="1800"/>
            </a:lvl3pPr>
            <a:lvl4pPr lvl="3" algn="ctr">
              <a:lnSpc>
                <a:spcPct val="90000"/>
              </a:lnSpc>
              <a:spcBef>
                <a:spcPts val="500"/>
              </a:spcBef>
              <a:spcAft>
                <a:spcPts val="0"/>
              </a:spcAft>
              <a:buClr>
                <a:srgbClr val="002060"/>
              </a:buClr>
              <a:buSzPts val="1600"/>
              <a:buNone/>
              <a:defRPr sz="1600"/>
            </a:lvl4pPr>
            <a:lvl5pPr lvl="4" algn="ctr">
              <a:lnSpc>
                <a:spcPct val="90000"/>
              </a:lnSpc>
              <a:spcBef>
                <a:spcPts val="500"/>
              </a:spcBef>
              <a:spcAft>
                <a:spcPts val="0"/>
              </a:spcAft>
              <a:buClr>
                <a:srgbClr val="002060"/>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2" name="Google Shape;22;p5"/>
          <p:cNvPicPr preferRelativeResize="0"/>
          <p:nvPr/>
        </p:nvPicPr>
        <p:blipFill rotWithShape="1">
          <a:blip r:embed="rId2">
            <a:alphaModFix/>
          </a:blip>
          <a:srcRect/>
          <a:stretch/>
        </p:blipFill>
        <p:spPr>
          <a:xfrm>
            <a:off x="94360" y="121460"/>
            <a:ext cx="11953097" cy="14170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6"/>
          <p:cNvSpPr txBox="1">
            <a:spLocks noGrp="1"/>
          </p:cNvSpPr>
          <p:nvPr>
            <p:ph type="body" idx="1"/>
          </p:nvPr>
        </p:nvSpPr>
        <p:spPr>
          <a:xfrm>
            <a:off x="179832" y="1115568"/>
            <a:ext cx="11734800" cy="4777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2060"/>
              </a:buClr>
              <a:buSzPts val="1800"/>
              <a:buChar char="•"/>
              <a:defRPr/>
            </a:lvl1pPr>
            <a:lvl2pPr marL="914400" lvl="1" indent="-342900" algn="l">
              <a:lnSpc>
                <a:spcPct val="90000"/>
              </a:lnSpc>
              <a:spcBef>
                <a:spcPts val="600"/>
              </a:spcBef>
              <a:spcAft>
                <a:spcPts val="0"/>
              </a:spcAft>
              <a:buClr>
                <a:srgbClr val="002060"/>
              </a:buClr>
              <a:buSzPts val="1800"/>
              <a:buChar char="•"/>
              <a:defRPr/>
            </a:lvl2pPr>
            <a:lvl3pPr marL="1371600" lvl="2" indent="-342900" algn="l">
              <a:lnSpc>
                <a:spcPct val="90000"/>
              </a:lnSpc>
              <a:spcBef>
                <a:spcPts val="500"/>
              </a:spcBef>
              <a:spcAft>
                <a:spcPts val="0"/>
              </a:spcAft>
              <a:buClr>
                <a:srgbClr val="002060"/>
              </a:buClr>
              <a:buSzPts val="1800"/>
              <a:buChar char="•"/>
              <a:defRPr/>
            </a:lvl3pPr>
            <a:lvl4pPr marL="1828800" lvl="3" indent="-342900" algn="l">
              <a:lnSpc>
                <a:spcPct val="90000"/>
              </a:lnSpc>
              <a:spcBef>
                <a:spcPts val="500"/>
              </a:spcBef>
              <a:spcAft>
                <a:spcPts val="0"/>
              </a:spcAft>
              <a:buClr>
                <a:srgbClr val="002060"/>
              </a:buClr>
              <a:buSzPts val="1800"/>
              <a:buChar char="•"/>
              <a:defRPr/>
            </a:lvl4pPr>
            <a:lvl5pPr marL="2286000" lvl="4" indent="-342900" algn="l">
              <a:lnSpc>
                <a:spcPct val="90000"/>
              </a:lnSpc>
              <a:spcBef>
                <a:spcPts val="500"/>
              </a:spcBef>
              <a:spcAft>
                <a:spcPts val="0"/>
              </a:spcAft>
              <a:buClr>
                <a:srgbClr val="00206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sldNum" idx="12"/>
          </p:nvPr>
        </p:nvSpPr>
        <p:spPr>
          <a:xfrm>
            <a:off x="11465052" y="6216650"/>
            <a:ext cx="53035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6" name="Google Shape;26;p6"/>
          <p:cNvSpPr txBox="1">
            <a:spLocks noGrp="1"/>
          </p:cNvSpPr>
          <p:nvPr>
            <p:ph type="title"/>
          </p:nvPr>
        </p:nvSpPr>
        <p:spPr>
          <a:xfrm>
            <a:off x="179832" y="161417"/>
            <a:ext cx="10272268" cy="66814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18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27"/>
        <p:cNvGrpSpPr/>
        <p:nvPr/>
      </p:nvGrpSpPr>
      <p:grpSpPr>
        <a:xfrm>
          <a:off x="0" y="0"/>
          <a:ext cx="0" cy="0"/>
          <a:chOff x="0" y="0"/>
          <a:chExt cx="0" cy="0"/>
        </a:xfrm>
      </p:grpSpPr>
      <p:sp>
        <p:nvSpPr>
          <p:cNvPr id="28" name="Google Shape;28;p7"/>
          <p:cNvSpPr txBox="1">
            <a:spLocks noGrp="1"/>
          </p:cNvSpPr>
          <p:nvPr>
            <p:ph type="sldNum" idx="12"/>
          </p:nvPr>
        </p:nvSpPr>
        <p:spPr>
          <a:xfrm>
            <a:off x="11465052" y="6216650"/>
            <a:ext cx="53035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9" name="Google Shape;29;p7"/>
          <p:cNvSpPr txBox="1">
            <a:spLocks noGrp="1"/>
          </p:cNvSpPr>
          <p:nvPr>
            <p:ph type="ctrTitle"/>
          </p:nvPr>
        </p:nvSpPr>
        <p:spPr>
          <a:xfrm>
            <a:off x="1524000" y="1650103"/>
            <a:ext cx="9144000" cy="156775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800"/>
              </a:spcBef>
              <a:spcAft>
                <a:spcPts val="0"/>
              </a:spcAft>
              <a:buSzPts val="4000"/>
              <a:buFont typeface="Arial"/>
              <a:buNone/>
              <a:defRPr sz="4000" b="1">
                <a:solidFill>
                  <a:srgbClr val="006DA4"/>
                </a:solidFill>
                <a:latin typeface="Arial"/>
                <a:ea typeface="Arial"/>
                <a:cs typeface="Arial"/>
                <a:sym typeface="Arial"/>
              </a:defRPr>
            </a:lvl1pPr>
            <a:lvl2pPr lvl="1">
              <a:spcBef>
                <a:spcPts val="18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
          <p:cNvSpPr txBox="1">
            <a:spLocks noGrp="1"/>
          </p:cNvSpPr>
          <p:nvPr>
            <p:ph type="subTitle" idx="1"/>
          </p:nvPr>
        </p:nvSpPr>
        <p:spPr>
          <a:xfrm>
            <a:off x="1524000" y="3530918"/>
            <a:ext cx="9144000" cy="60414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
              </a:spcBef>
              <a:spcAft>
                <a:spcPts val="0"/>
              </a:spcAft>
              <a:buClr>
                <a:srgbClr val="F57F29"/>
              </a:buClr>
              <a:buSzPts val="2400"/>
              <a:buFont typeface="Arial"/>
              <a:buNone/>
              <a:defRPr sz="2400">
                <a:solidFill>
                  <a:srgbClr val="F57F29"/>
                </a:solidFill>
                <a:latin typeface="Arial"/>
                <a:ea typeface="Arial"/>
                <a:cs typeface="Arial"/>
                <a:sym typeface="Arial"/>
              </a:defRPr>
            </a:lvl1pPr>
            <a:lvl2pPr lvl="1" algn="ctr">
              <a:lnSpc>
                <a:spcPct val="90000"/>
              </a:lnSpc>
              <a:spcBef>
                <a:spcPts val="600"/>
              </a:spcBef>
              <a:spcAft>
                <a:spcPts val="0"/>
              </a:spcAft>
              <a:buClr>
                <a:srgbClr val="002060"/>
              </a:buClr>
              <a:buSzPts val="2000"/>
              <a:buNone/>
              <a:defRPr sz="2000"/>
            </a:lvl2pPr>
            <a:lvl3pPr lvl="2" algn="ctr">
              <a:lnSpc>
                <a:spcPct val="90000"/>
              </a:lnSpc>
              <a:spcBef>
                <a:spcPts val="500"/>
              </a:spcBef>
              <a:spcAft>
                <a:spcPts val="0"/>
              </a:spcAft>
              <a:buClr>
                <a:srgbClr val="002060"/>
              </a:buClr>
              <a:buSzPts val="1800"/>
              <a:buNone/>
              <a:defRPr sz="1800"/>
            </a:lvl3pPr>
            <a:lvl4pPr lvl="3" algn="ctr">
              <a:lnSpc>
                <a:spcPct val="90000"/>
              </a:lnSpc>
              <a:spcBef>
                <a:spcPts val="500"/>
              </a:spcBef>
              <a:spcAft>
                <a:spcPts val="0"/>
              </a:spcAft>
              <a:buClr>
                <a:srgbClr val="002060"/>
              </a:buClr>
              <a:buSzPts val="1600"/>
              <a:buNone/>
              <a:defRPr sz="1600"/>
            </a:lvl4pPr>
            <a:lvl5pPr lvl="4" algn="ctr">
              <a:lnSpc>
                <a:spcPct val="90000"/>
              </a:lnSpc>
              <a:spcBef>
                <a:spcPts val="500"/>
              </a:spcBef>
              <a:spcAft>
                <a:spcPts val="0"/>
              </a:spcAft>
              <a:buClr>
                <a:srgbClr val="002060"/>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31" name="Google Shape;31;p7"/>
          <p:cNvPicPr preferRelativeResize="0"/>
          <p:nvPr/>
        </p:nvPicPr>
        <p:blipFill rotWithShape="1">
          <a:blip r:embed="rId2">
            <a:alphaModFix/>
          </a:blip>
          <a:srcRect/>
          <a:stretch/>
        </p:blipFill>
        <p:spPr>
          <a:xfrm>
            <a:off x="0" y="57369"/>
            <a:ext cx="12192000" cy="14454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179832" y="161417"/>
            <a:ext cx="9416655" cy="66814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C00000"/>
              </a:buClr>
              <a:buSzPts val="3600"/>
              <a:buFont typeface="Arial"/>
              <a:buNone/>
              <a:defRPr sz="3600" b="0" i="0" u="none" strike="noStrike" cap="small">
                <a:solidFill>
                  <a:srgbClr val="EE8404"/>
                </a:solidFill>
                <a:latin typeface="Arial"/>
                <a:ea typeface="Arial"/>
                <a:cs typeface="Arial"/>
                <a:sym typeface="Arial"/>
              </a:defRPr>
            </a:lvl1pPr>
            <a:lvl2pPr lvl="1">
              <a:spcBef>
                <a:spcPts val="18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179832" y="1095756"/>
            <a:ext cx="11707368" cy="486702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002060"/>
              </a:buClr>
              <a:buSzPts val="2400"/>
              <a:buFont typeface="Arial"/>
              <a:buChar char="•"/>
              <a:defRPr sz="2400" b="0" i="0" u="none" strike="noStrike" cap="none">
                <a:solidFill>
                  <a:srgbClr val="002060"/>
                </a:solidFill>
                <a:latin typeface="Arial"/>
                <a:ea typeface="Arial"/>
                <a:cs typeface="Arial"/>
                <a:sym typeface="Arial"/>
              </a:defRPr>
            </a:lvl1pPr>
            <a:lvl2pPr marL="914400" marR="0" lvl="1" indent="-355600" algn="l" rtl="0">
              <a:lnSpc>
                <a:spcPct val="90000"/>
              </a:lnSpc>
              <a:spcBef>
                <a:spcPts val="6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2pPr>
            <a:lvl3pPr marL="1371600" marR="0" lvl="2" indent="-342900" algn="l" rtl="0">
              <a:lnSpc>
                <a:spcPct val="90000"/>
              </a:lnSpc>
              <a:spcBef>
                <a:spcPts val="500"/>
              </a:spcBef>
              <a:spcAft>
                <a:spcPts val="0"/>
              </a:spcAft>
              <a:buClr>
                <a:srgbClr val="002060"/>
              </a:buClr>
              <a:buSzPts val="1800"/>
              <a:buFont typeface="Arial"/>
              <a:buChar char="•"/>
              <a:defRPr sz="1800" b="0" i="0" u="none" strike="noStrike" cap="none">
                <a:solidFill>
                  <a:srgbClr val="002060"/>
                </a:solidFill>
                <a:latin typeface="Arial"/>
                <a:ea typeface="Arial"/>
                <a:cs typeface="Arial"/>
                <a:sym typeface="Arial"/>
              </a:defRPr>
            </a:lvl3pPr>
            <a:lvl4pPr marL="1828800" marR="0" lvl="3" indent="-330200" algn="l" rtl="0">
              <a:lnSpc>
                <a:spcPct val="90000"/>
              </a:lnSpc>
              <a:spcBef>
                <a:spcPts val="500"/>
              </a:spcBef>
              <a:spcAft>
                <a:spcPts val="0"/>
              </a:spcAft>
              <a:buClr>
                <a:srgbClr val="002060"/>
              </a:buClr>
              <a:buSzPts val="1600"/>
              <a:buFont typeface="Arial"/>
              <a:buChar char="•"/>
              <a:defRPr sz="1600" b="0" i="0" u="none" strike="noStrike" cap="none">
                <a:solidFill>
                  <a:srgbClr val="002060"/>
                </a:solidFill>
                <a:latin typeface="Arial"/>
                <a:ea typeface="Arial"/>
                <a:cs typeface="Arial"/>
                <a:sym typeface="Arial"/>
              </a:defRPr>
            </a:lvl4pPr>
            <a:lvl5pPr marL="2286000" marR="0" lvl="4" indent="-330200" algn="l" rtl="0">
              <a:lnSpc>
                <a:spcPct val="90000"/>
              </a:lnSpc>
              <a:spcBef>
                <a:spcPts val="500"/>
              </a:spcBef>
              <a:spcAft>
                <a:spcPts val="0"/>
              </a:spcAft>
              <a:buClr>
                <a:srgbClr val="002060"/>
              </a:buClr>
              <a:buSzPts val="1600"/>
              <a:buFont typeface="Arial"/>
              <a:buChar char="•"/>
              <a:defRPr sz="1600" b="0" i="0" u="none" strike="noStrike" cap="none">
                <a:solidFill>
                  <a:srgbClr val="00206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sldNum" idx="12"/>
          </p:nvPr>
        </p:nvSpPr>
        <p:spPr>
          <a:xfrm>
            <a:off x="11465052" y="6216650"/>
            <a:ext cx="530352"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800" b="0" i="0" u="none" strike="noStrike" cap="none">
                <a:solidFill>
                  <a:srgbClr val="F57F29"/>
                </a:solidFill>
                <a:latin typeface="Arial"/>
                <a:ea typeface="Arial"/>
                <a:cs typeface="Arial"/>
                <a:sym typeface="Arial"/>
              </a:defRPr>
            </a:lvl1pPr>
            <a:lvl2pPr marL="0" marR="0" lvl="1" indent="0" algn="ctr" rtl="0">
              <a:spcBef>
                <a:spcPts val="0"/>
              </a:spcBef>
              <a:buNone/>
              <a:defRPr sz="1800" b="0" i="0" u="none" strike="noStrike" cap="none">
                <a:solidFill>
                  <a:srgbClr val="F57F29"/>
                </a:solidFill>
                <a:latin typeface="Arial"/>
                <a:ea typeface="Arial"/>
                <a:cs typeface="Arial"/>
                <a:sym typeface="Arial"/>
              </a:defRPr>
            </a:lvl2pPr>
            <a:lvl3pPr marL="0" marR="0" lvl="2" indent="0" algn="ctr" rtl="0">
              <a:spcBef>
                <a:spcPts val="0"/>
              </a:spcBef>
              <a:buNone/>
              <a:defRPr sz="1800" b="0" i="0" u="none" strike="noStrike" cap="none">
                <a:solidFill>
                  <a:srgbClr val="F57F29"/>
                </a:solidFill>
                <a:latin typeface="Arial"/>
                <a:ea typeface="Arial"/>
                <a:cs typeface="Arial"/>
                <a:sym typeface="Arial"/>
              </a:defRPr>
            </a:lvl3pPr>
            <a:lvl4pPr marL="0" marR="0" lvl="3" indent="0" algn="ctr" rtl="0">
              <a:spcBef>
                <a:spcPts val="0"/>
              </a:spcBef>
              <a:buNone/>
              <a:defRPr sz="1800" b="0" i="0" u="none" strike="noStrike" cap="none">
                <a:solidFill>
                  <a:srgbClr val="F57F29"/>
                </a:solidFill>
                <a:latin typeface="Arial"/>
                <a:ea typeface="Arial"/>
                <a:cs typeface="Arial"/>
                <a:sym typeface="Arial"/>
              </a:defRPr>
            </a:lvl4pPr>
            <a:lvl5pPr marL="0" marR="0" lvl="4" indent="0" algn="ctr" rtl="0">
              <a:spcBef>
                <a:spcPts val="0"/>
              </a:spcBef>
              <a:buNone/>
              <a:defRPr sz="1800" b="0" i="0" u="none" strike="noStrike" cap="none">
                <a:solidFill>
                  <a:srgbClr val="F57F29"/>
                </a:solidFill>
                <a:latin typeface="Arial"/>
                <a:ea typeface="Arial"/>
                <a:cs typeface="Arial"/>
                <a:sym typeface="Arial"/>
              </a:defRPr>
            </a:lvl5pPr>
            <a:lvl6pPr marL="0" marR="0" lvl="5" indent="0" algn="ctr" rtl="0">
              <a:spcBef>
                <a:spcPts val="0"/>
              </a:spcBef>
              <a:buNone/>
              <a:defRPr sz="1800" b="0" i="0" u="none" strike="noStrike" cap="none">
                <a:solidFill>
                  <a:srgbClr val="F57F29"/>
                </a:solidFill>
                <a:latin typeface="Arial"/>
                <a:ea typeface="Arial"/>
                <a:cs typeface="Arial"/>
                <a:sym typeface="Arial"/>
              </a:defRPr>
            </a:lvl6pPr>
            <a:lvl7pPr marL="0" marR="0" lvl="6" indent="0" algn="ctr" rtl="0">
              <a:spcBef>
                <a:spcPts val="0"/>
              </a:spcBef>
              <a:buNone/>
              <a:defRPr sz="1800" b="0" i="0" u="none" strike="noStrike" cap="none">
                <a:solidFill>
                  <a:srgbClr val="F57F29"/>
                </a:solidFill>
                <a:latin typeface="Arial"/>
                <a:ea typeface="Arial"/>
                <a:cs typeface="Arial"/>
                <a:sym typeface="Arial"/>
              </a:defRPr>
            </a:lvl7pPr>
            <a:lvl8pPr marL="0" marR="0" lvl="7" indent="0" algn="ctr" rtl="0">
              <a:spcBef>
                <a:spcPts val="0"/>
              </a:spcBef>
              <a:buNone/>
              <a:defRPr sz="1800" b="0" i="0" u="none" strike="noStrike" cap="none">
                <a:solidFill>
                  <a:srgbClr val="F57F29"/>
                </a:solidFill>
                <a:latin typeface="Arial"/>
                <a:ea typeface="Arial"/>
                <a:cs typeface="Arial"/>
                <a:sym typeface="Arial"/>
              </a:defRPr>
            </a:lvl8pPr>
            <a:lvl9pPr marL="0" marR="0" lvl="8" indent="0" algn="ctr" rtl="0">
              <a:spcBef>
                <a:spcPts val="0"/>
              </a:spcBef>
              <a:buNone/>
              <a:defRPr sz="1800" b="0" i="0" u="none" strike="noStrike" cap="none">
                <a:solidFill>
                  <a:srgbClr val="F57F29"/>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pic>
        <p:nvPicPr>
          <p:cNvPr id="13" name="Google Shape;13;p4"/>
          <p:cNvPicPr preferRelativeResize="0"/>
          <p:nvPr/>
        </p:nvPicPr>
        <p:blipFill rotWithShape="1">
          <a:blip r:embed="rId5">
            <a:alphaModFix/>
          </a:blip>
          <a:srcRect l="5575" t="9741" r="6682" b="14572"/>
          <a:stretch/>
        </p:blipFill>
        <p:spPr>
          <a:xfrm>
            <a:off x="1569720" y="5962784"/>
            <a:ext cx="1463040" cy="780086"/>
          </a:xfrm>
          <a:prstGeom prst="rect">
            <a:avLst/>
          </a:prstGeom>
          <a:noFill/>
          <a:ln>
            <a:noFill/>
          </a:ln>
        </p:spPr>
      </p:pic>
      <p:pic>
        <p:nvPicPr>
          <p:cNvPr id="14" name="Google Shape;14;p4"/>
          <p:cNvPicPr preferRelativeResize="0"/>
          <p:nvPr/>
        </p:nvPicPr>
        <p:blipFill rotWithShape="1">
          <a:blip r:embed="rId6">
            <a:alphaModFix/>
          </a:blip>
          <a:srcRect/>
          <a:stretch/>
        </p:blipFill>
        <p:spPr>
          <a:xfrm>
            <a:off x="179832" y="6003131"/>
            <a:ext cx="1280160" cy="718344"/>
          </a:xfrm>
          <a:prstGeom prst="rect">
            <a:avLst/>
          </a:prstGeom>
          <a:noFill/>
          <a:ln>
            <a:noFill/>
          </a:ln>
        </p:spPr>
      </p:pic>
      <p:pic>
        <p:nvPicPr>
          <p:cNvPr id="15" name="Google Shape;15;p4"/>
          <p:cNvPicPr preferRelativeResize="0"/>
          <p:nvPr/>
        </p:nvPicPr>
        <p:blipFill rotWithShape="1">
          <a:blip r:embed="rId7">
            <a:alphaModFix/>
          </a:blip>
          <a:srcRect/>
          <a:stretch/>
        </p:blipFill>
        <p:spPr>
          <a:xfrm>
            <a:off x="9954705" y="227070"/>
            <a:ext cx="2040699" cy="71741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
        <p:nvSpPr>
          <p:cNvPr id="36" name="Google Shape;36;p1"/>
          <p:cNvSpPr txBox="1">
            <a:spLocks noGrp="1"/>
          </p:cNvSpPr>
          <p:nvPr>
            <p:ph type="ctrTitle"/>
          </p:nvPr>
        </p:nvSpPr>
        <p:spPr>
          <a:xfrm>
            <a:off x="1524000" y="2498386"/>
            <a:ext cx="9144000" cy="1239303"/>
          </a:xfrm>
          <a:prstGeom prst="rect">
            <a:avLst/>
          </a:prstGeom>
          <a:noFill/>
          <a:ln>
            <a:noFill/>
          </a:ln>
        </p:spPr>
        <p:txBody>
          <a:bodyPr spcFirstLastPara="1" wrap="square" lIns="91425" tIns="45700" rIns="91425" bIns="45700" anchor="ctr" anchorCtr="0">
            <a:normAutofit fontScale="90000"/>
          </a:bodyPr>
          <a:lstStyle/>
          <a:p>
            <a:pPr lvl="0">
              <a:spcBef>
                <a:spcPts val="0"/>
              </a:spcBef>
              <a:buSzPts val="3600"/>
            </a:pPr>
            <a:r>
              <a:rPr lang="en-IN" sz="3600" dirty="0"/>
              <a:t>From Diurnal to Bimodal: Measuring the Nocturnal Shift in Delhi’s Peak Electricity Demand from Daily Peak-Timing Records</a:t>
            </a:r>
            <a:endParaRPr dirty="0"/>
          </a:p>
        </p:txBody>
      </p:sp>
      <p:sp>
        <p:nvSpPr>
          <p:cNvPr id="37" name="Google Shape;37;p1"/>
          <p:cNvSpPr txBox="1">
            <a:spLocks noGrp="1"/>
          </p:cNvSpPr>
          <p:nvPr>
            <p:ph type="subTitle" idx="1"/>
          </p:nvPr>
        </p:nvSpPr>
        <p:spPr>
          <a:xfrm>
            <a:off x="1524000" y="4009881"/>
            <a:ext cx="9144000" cy="60414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B050"/>
              </a:buClr>
              <a:buSzPts val="2400"/>
              <a:buFont typeface="Arial"/>
              <a:buNone/>
            </a:pPr>
            <a:r>
              <a:rPr lang="en-US" b="1" dirty="0">
                <a:solidFill>
                  <a:srgbClr val="00B050"/>
                </a:solidFill>
              </a:rPr>
              <a:t>Swastik Verma</a:t>
            </a:r>
            <a:r>
              <a:rPr lang="en-US" sz="2400" b="1" dirty="0">
                <a:solidFill>
                  <a:srgbClr val="00B050"/>
                </a:solidFill>
                <a:latin typeface="Arial"/>
                <a:ea typeface="Arial"/>
                <a:cs typeface="Arial"/>
                <a:sym typeface="Arial"/>
              </a:rPr>
              <a:t>, Pummy Dhiman</a:t>
            </a:r>
            <a:endParaRPr dirty="0"/>
          </a:p>
        </p:txBody>
      </p:sp>
      <p:sp>
        <p:nvSpPr>
          <p:cNvPr id="38" name="Google Shape;38;p1"/>
          <p:cNvSpPr txBox="1"/>
          <p:nvPr/>
        </p:nvSpPr>
        <p:spPr>
          <a:xfrm>
            <a:off x="1762540" y="4724038"/>
            <a:ext cx="4208890" cy="604142"/>
          </a:xfrm>
          <a:prstGeom prst="rect">
            <a:avLst/>
          </a:prstGeom>
          <a:noFill/>
          <a:ln>
            <a:noFill/>
          </a:ln>
        </p:spPr>
        <p:txBody>
          <a:bodyPr spcFirstLastPara="1" wrap="square" lIns="91425" tIns="45700" rIns="91425" bIns="45700" anchor="t" anchorCtr="0">
            <a:normAutofit fontScale="92500" lnSpcReduction="20000"/>
          </a:bodyPr>
          <a:lstStyle/>
          <a:p>
            <a:pPr lvl="0" algn="ctr">
              <a:buClr>
                <a:schemeClr val="dk1"/>
              </a:buClr>
              <a:buSzPts val="2000"/>
            </a:pPr>
            <a:r>
              <a:rPr lang="en-IN" dirty="0"/>
              <a:t>Swastik Verma, Chitkara University Institute of Engineering and Technology Chitkara University, Punjab, India onamverma8@gmail.com</a:t>
            </a:r>
            <a:endParaRPr dirty="0"/>
          </a:p>
        </p:txBody>
      </p:sp>
      <p:sp>
        <p:nvSpPr>
          <p:cNvPr id="39" name="Google Shape;39;p1"/>
          <p:cNvSpPr txBox="1"/>
          <p:nvPr/>
        </p:nvSpPr>
        <p:spPr>
          <a:xfrm>
            <a:off x="1524000" y="6253858"/>
            <a:ext cx="9144000" cy="604142"/>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C00000"/>
              </a:buClr>
              <a:buSzPts val="1800"/>
              <a:buFont typeface="Arial"/>
              <a:buNone/>
            </a:pPr>
            <a:r>
              <a:rPr lang="en-US" sz="1800" b="1" i="0" u="none" strike="noStrike" cap="small">
                <a:solidFill>
                  <a:srgbClr val="FFFFFF"/>
                </a:solidFill>
                <a:latin typeface="Cambria"/>
                <a:ea typeface="Cambria"/>
                <a:cs typeface="Cambria"/>
                <a:sym typeface="Cambria"/>
              </a:rPr>
              <a:t>4</a:t>
            </a:r>
            <a:r>
              <a:rPr lang="en-US" sz="1800" b="1" i="0" u="none" strike="noStrike" cap="small" baseline="30000">
                <a:solidFill>
                  <a:srgbClr val="FFFFFF"/>
                </a:solidFill>
                <a:latin typeface="Cambria"/>
                <a:ea typeface="Cambria"/>
                <a:cs typeface="Cambria"/>
                <a:sym typeface="Cambria"/>
              </a:rPr>
              <a:t>th </a:t>
            </a:r>
            <a:r>
              <a:rPr lang="en-US" sz="1800" b="1" i="0" u="none" strike="noStrike" cap="small">
                <a:solidFill>
                  <a:srgbClr val="FFFFFF"/>
                </a:solidFill>
                <a:latin typeface="Cambria"/>
                <a:ea typeface="Cambria"/>
                <a:cs typeface="Cambria"/>
                <a:sym typeface="Cambria"/>
              </a:rPr>
              <a:t>IEEE International Conference on Industrial Electronics: Developments &amp; Applications</a:t>
            </a:r>
            <a:endParaRPr sz="3200" b="1" i="0" u="none" strike="noStrike" cap="small">
              <a:solidFill>
                <a:srgbClr val="006DA4"/>
              </a:solidFill>
              <a:latin typeface="Arial"/>
              <a:ea typeface="Arial"/>
              <a:cs typeface="Arial"/>
              <a:sym typeface="Arial"/>
            </a:endParaRPr>
          </a:p>
        </p:txBody>
      </p:sp>
      <p:sp>
        <p:nvSpPr>
          <p:cNvPr id="40" name="Google Shape;40;p1"/>
          <p:cNvSpPr txBox="1"/>
          <p:nvPr/>
        </p:nvSpPr>
        <p:spPr>
          <a:xfrm>
            <a:off x="3601940" y="5539701"/>
            <a:ext cx="45720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dirty="0">
                <a:solidFill>
                  <a:srgbClr val="7030A0"/>
                </a:solidFill>
              </a:rPr>
              <a:t>42</a:t>
            </a:r>
            <a:r>
              <a:rPr lang="en-US" sz="1800" b="0" i="1" u="none" strike="noStrike" cap="none" dirty="0">
                <a:solidFill>
                  <a:srgbClr val="7030A0"/>
                </a:solidFill>
                <a:latin typeface="Arial"/>
                <a:ea typeface="Arial"/>
                <a:cs typeface="Arial"/>
                <a:sym typeface="Arial"/>
              </a:rPr>
              <a:t> </a:t>
            </a:r>
            <a:r>
              <a:rPr lang="en-US" sz="1800" b="1" i="1" u="none" strike="noStrike" cap="none" dirty="0">
                <a:solidFill>
                  <a:srgbClr val="7030A0"/>
                </a:solidFill>
                <a:latin typeface="Arial"/>
                <a:ea typeface="Arial"/>
                <a:cs typeface="Arial"/>
                <a:sym typeface="Arial"/>
              </a:rPr>
              <a:t>– </a:t>
            </a:r>
            <a:r>
              <a:rPr lang="en-US" sz="1800" b="1" dirty="0">
                <a:solidFill>
                  <a:srgbClr val="7030A0"/>
                </a:solidFill>
              </a:rPr>
              <a:t>Swastik Verma &amp; Pummy Dhiman </a:t>
            </a:r>
            <a:r>
              <a:rPr lang="en-US" sz="1800" b="1" i="0" u="none" strike="noStrike" cap="none" dirty="0">
                <a:solidFill>
                  <a:srgbClr val="7030A0"/>
                </a:solidFill>
                <a:latin typeface="Arial"/>
                <a:ea typeface="Arial"/>
                <a:cs typeface="Arial"/>
                <a:sym typeface="Arial"/>
              </a:rPr>
              <a:t> </a:t>
            </a:r>
            <a:r>
              <a:rPr lang="en-US" sz="1800" b="0" i="1" u="none" strike="noStrike" cap="none" dirty="0">
                <a:solidFill>
                  <a:srgbClr val="7030A0"/>
                </a:solidFill>
                <a:latin typeface="Arial"/>
                <a:ea typeface="Arial"/>
                <a:cs typeface="Arial"/>
                <a:sym typeface="Arial"/>
              </a:rPr>
              <a:t> </a:t>
            </a:r>
            <a:endParaRPr sz="1800" dirty="0">
              <a:solidFill>
                <a:srgbClr val="7030A0"/>
              </a:solidFill>
              <a:latin typeface="Arial"/>
              <a:ea typeface="Arial"/>
              <a:cs typeface="Arial"/>
              <a:sym typeface="Arial"/>
            </a:endParaRPr>
          </a:p>
        </p:txBody>
      </p:sp>
      <p:sp>
        <p:nvSpPr>
          <p:cNvPr id="41" name="Google Shape;41;p1"/>
          <p:cNvSpPr txBox="1"/>
          <p:nvPr/>
        </p:nvSpPr>
        <p:spPr>
          <a:xfrm>
            <a:off x="616226" y="1815203"/>
            <a:ext cx="11840817"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rgbClr val="002060"/>
                </a:solidFill>
                <a:latin typeface="Cambria"/>
                <a:ea typeface="Cambria"/>
                <a:cs typeface="Cambria"/>
                <a:sym typeface="Cambria"/>
              </a:rPr>
              <a:t>4</a:t>
            </a:r>
            <a:r>
              <a:rPr lang="en-US" sz="2200" b="1" baseline="30000" dirty="0">
                <a:solidFill>
                  <a:srgbClr val="002060"/>
                </a:solidFill>
                <a:latin typeface="Cambria"/>
                <a:ea typeface="Cambria"/>
                <a:cs typeface="Cambria"/>
                <a:sym typeface="Cambria"/>
              </a:rPr>
              <a:t>th </a:t>
            </a:r>
            <a:r>
              <a:rPr lang="en-US" sz="2200" b="1" dirty="0">
                <a:solidFill>
                  <a:srgbClr val="002060"/>
                </a:solidFill>
                <a:latin typeface="Cambria"/>
                <a:ea typeface="Cambria"/>
                <a:cs typeface="Cambria"/>
                <a:sym typeface="Cambria"/>
              </a:rPr>
              <a:t>IEEE International Conference on Industrial Electronics: Developments &amp; Applications</a:t>
            </a:r>
            <a:endParaRPr sz="2200" b="1" dirty="0">
              <a:solidFill>
                <a:srgbClr val="002060"/>
              </a:solidFill>
              <a:latin typeface="Arial"/>
              <a:ea typeface="Arial"/>
              <a:cs typeface="Arial"/>
              <a:sym typeface="Arial"/>
            </a:endParaRPr>
          </a:p>
        </p:txBody>
      </p:sp>
      <p:sp>
        <p:nvSpPr>
          <p:cNvPr id="3" name="Google Shape;38;p1">
            <a:extLst>
              <a:ext uri="{FF2B5EF4-FFF2-40B4-BE49-F238E27FC236}">
                <a16:creationId xmlns:a16="http://schemas.microsoft.com/office/drawing/2014/main" id="{822EDEF6-17C6-E5A8-60CD-5E2542493860}"/>
              </a:ext>
            </a:extLst>
          </p:cNvPr>
          <p:cNvSpPr txBox="1"/>
          <p:nvPr/>
        </p:nvSpPr>
        <p:spPr>
          <a:xfrm>
            <a:off x="5971430" y="4719989"/>
            <a:ext cx="4208890" cy="604142"/>
          </a:xfrm>
          <a:prstGeom prst="rect">
            <a:avLst/>
          </a:prstGeom>
          <a:noFill/>
          <a:ln>
            <a:noFill/>
          </a:ln>
        </p:spPr>
        <p:txBody>
          <a:bodyPr spcFirstLastPara="1" wrap="square" lIns="91425" tIns="45700" rIns="91425" bIns="45700" anchor="t" anchorCtr="0">
            <a:normAutofit fontScale="92500" lnSpcReduction="20000"/>
          </a:bodyPr>
          <a:lstStyle/>
          <a:p>
            <a:pPr lvl="0" algn="ctr">
              <a:buClr>
                <a:schemeClr val="dk1"/>
              </a:buClr>
              <a:buSzPts val="2000"/>
            </a:pPr>
            <a:r>
              <a:rPr lang="en-IN" dirty="0"/>
              <a:t>Pummy Dhiman Chitkara University Institute of Engineering and Technology Chitkara University, Punjab, India pummy.dhiman@chitkara.edu.in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2"/>
          <p:cNvSpPr txBox="1">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600" dirty="0"/>
              <a:t>Delhi’s daily peak demand no longer falls only in the afternoon. It now often falls late at night, and the two peaks are almost equal in height, so the hour of the peak is hard to predict.</a:t>
            </a:r>
          </a:p>
          <a:p>
            <a:pPr marL="0" lvl="0" indent="0" algn="l">
              <a:lnSpc>
                <a:spcPct val="95000"/>
              </a:lnSpc>
              <a:spcBef>
                <a:spcPts val="1000"/>
              </a:spcBef>
              <a:spcAft>
                <a:spcPts val="0"/>
              </a:spcAft>
              <a:buNone/>
            </a:pPr>
            <a:r>
              <a:rPr lang="en-IN" sz="1800" b="1" dirty="0"/>
              <a:t>Why it happens : </a:t>
            </a:r>
          </a:p>
          <a:p>
            <a:pPr marL="342900" lvl="0" indent="-342900" algn="l">
              <a:lnSpc>
                <a:spcPct val="95000"/>
              </a:lnSpc>
              <a:spcBef>
                <a:spcPts val="700"/>
              </a:spcBef>
              <a:spcAft>
                <a:spcPts val="0"/>
              </a:spcAft>
              <a:buFont typeface="Arial"/>
              <a:buAutoNum type="arabicPeriod"/>
            </a:pPr>
            <a:r>
              <a:rPr lang="en-IN" sz="1600" b="1" dirty="0"/>
              <a:t>Warm nights keep demand high:</a:t>
            </a:r>
            <a:r>
              <a:rPr lang="en-IN" sz="1600" dirty="0"/>
              <a:t> Concrete buildings and roads in the urban heat island soak up sunlight during the day and radiate the energy slowly at night. This keeps the nights from cooling off and results in strong electricity demand in the region.</a:t>
            </a:r>
          </a:p>
          <a:p>
            <a:pPr marL="342900" lvl="0" indent="-342900" algn="l">
              <a:lnSpc>
                <a:spcPct val="95000"/>
              </a:lnSpc>
              <a:spcBef>
                <a:spcPts val="700"/>
              </a:spcBef>
              <a:spcAft>
                <a:spcPts val="0"/>
              </a:spcAft>
              <a:buFont typeface="Arial"/>
              <a:buAutoNum type="arabicPeriod" startAt="2"/>
            </a:pPr>
            <a:r>
              <a:rPr lang="en-IN" sz="1600" b="1" dirty="0"/>
              <a:t>Humidity changes which hour carries the peak:</a:t>
            </a:r>
            <a:r>
              <a:rPr lang="en-IN" sz="1600" dirty="0"/>
              <a:t> High humidity combined with the urban heat island creates a compounded effect. Humidity pushes the AC compressors to work harder through the whole night to fight the heat and humidity together.</a:t>
            </a:r>
          </a:p>
          <a:p>
            <a:pPr marL="0" lvl="0" indent="0" algn="l">
              <a:lnSpc>
                <a:spcPct val="95000"/>
              </a:lnSpc>
              <a:spcBef>
                <a:spcPts val="1000"/>
              </a:spcBef>
              <a:spcAft>
                <a:spcPts val="0"/>
              </a:spcAft>
              <a:buNone/>
            </a:pPr>
            <a:r>
              <a:rPr lang="en-IN" sz="1800" b="1" dirty="0"/>
              <a:t>What is missing :</a:t>
            </a:r>
          </a:p>
          <a:p>
            <a:pPr marL="342900" lvl="0" indent="-342900" algn="l">
              <a:lnSpc>
                <a:spcPct val="95000"/>
              </a:lnSpc>
              <a:spcBef>
                <a:spcPts val="700"/>
              </a:spcBef>
              <a:spcAft>
                <a:spcPts val="0"/>
              </a:spcAft>
              <a:buFont typeface="+mj-lt"/>
              <a:buAutoNum type="arabicPeriod"/>
            </a:pPr>
            <a:r>
              <a:rPr lang="en-IN" sz="1600" b="1" dirty="0"/>
              <a:t>Peak timing is not measured:</a:t>
            </a:r>
            <a:r>
              <a:rPr lang="en-IN" sz="1600" dirty="0"/>
              <a:t> Most studies give the size of the peak but not its clock time. A peak of 8,000 MW looks the same whether it happened at 3 pm or at 11 pm.</a:t>
            </a:r>
          </a:p>
          <a:p>
            <a:pPr marL="342900" lvl="0" indent="-342900" algn="l">
              <a:lnSpc>
                <a:spcPct val="95000"/>
              </a:lnSpc>
              <a:spcBef>
                <a:spcPts val="700"/>
              </a:spcBef>
              <a:spcAft>
                <a:spcPts val="0"/>
              </a:spcAft>
              <a:buFont typeface="+mj-lt"/>
              <a:buAutoNum type="arabicPeriod" startAt="2"/>
            </a:pPr>
            <a:r>
              <a:rPr lang="en-IN" sz="1600" b="1" dirty="0"/>
              <a:t>The late-night window is not estimated:</a:t>
            </a:r>
            <a:r>
              <a:rPr lang="en-IN" sz="1600" dirty="0"/>
              <a:t> Reports quote 22:00 to 01:00, but its centre and spread have not been measured.</a:t>
            </a:r>
          </a:p>
          <a:p>
            <a:pPr marL="342900" lvl="0" indent="-342900" algn="l">
              <a:lnSpc>
                <a:spcPct val="95000"/>
              </a:lnSpc>
              <a:spcBef>
                <a:spcPts val="700"/>
              </a:spcBef>
              <a:spcAft>
                <a:spcPts val="0"/>
              </a:spcAft>
              <a:buFont typeface="+mj-lt"/>
              <a:buAutoNum type="arabicPeriod" startAt="3"/>
            </a:pPr>
            <a:r>
              <a:rPr lang="en-IN" sz="1600" b="1" dirty="0"/>
              <a:t>The heat threshold is not known:</a:t>
            </a:r>
            <a:r>
              <a:rPr lang="en-IN" sz="1600" dirty="0"/>
              <a:t> We do not know the night temperature above which cooling demand starts rising faster.</a:t>
            </a:r>
          </a:p>
          <a:p>
            <a:pPr marL="342900" lvl="0" indent="-342900" algn="l">
              <a:lnSpc>
                <a:spcPct val="95000"/>
              </a:lnSpc>
              <a:spcBef>
                <a:spcPts val="700"/>
              </a:spcBef>
              <a:spcAft>
                <a:spcPts val="0"/>
              </a:spcAft>
              <a:buFont typeface="+mj-lt"/>
              <a:buAutoNum type="arabicPeriod" startAt="4"/>
            </a:pPr>
            <a:r>
              <a:rPr lang="en-IN" sz="1600" b="1" dirty="0"/>
              <a:t>Storage is not sized:</a:t>
            </a:r>
            <a:r>
              <a:rPr lang="en-IN" sz="1600" dirty="0"/>
              <a:t> Solar cannot supply a midnight peak, and the battery size needed to flatten it has not been worked out.</a:t>
            </a:r>
          </a:p>
        </p:txBody>
      </p:sp>
      <p:sp>
        <p:nvSpPr>
          <p:cNvPr id="47" name="Google Shape;47;p2"/>
          <p:cNvSpPr txBox="1">
            <a:spLocks noGrp="1"/>
          </p:cNvSpPr>
          <p:nvPr>
            <p:ph type="sldNum" idx="12"/>
          </p:nvPr>
        </p:nvSpPr>
        <p:spPr>
          <a:xfrm>
            <a:off x="11465052" y="6216650"/>
            <a:ext cx="53035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
        <p:nvSpPr>
          <p:cNvPr id="48" name="Google Shape;48;p2"/>
          <p:cNvSpPr txBox="1">
            <a:spLocks noGrp="1"/>
          </p:cNvSpPr>
          <p:nvPr>
            <p:ph type="title"/>
          </p:nvPr>
        </p:nvSpPr>
        <p:spPr/>
        <p:txBody>
          <a:bodyPr/>
          <a:lstStyle/>
          <a:p>
            <a:r>
              <a:rPr lang="en-IN" dirty="0"/>
              <a:t>Problem Statement</a:t>
            </a:r>
          </a:p>
        </p:txBody>
      </p:sp>
      <p:sp>
        <p:nvSpPr>
          <p:cNvPr id="50"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4B2EAB-66EA-58B0-C39D-FC1FF4B5E3C2}"/>
              </a:ext>
            </a:extLst>
          </p:cNvPr>
          <p:cNvSpPr>
            <a:spLocks noGrp="1"/>
          </p:cNvSpPr>
          <p:nvPr>
            <p:ph type="body" idx="1"/>
          </p:nvPr>
        </p:nvSpPr>
        <p:spPr>
          <a:xfrm>
            <a:off x="179832" y="1000000"/>
            <a:ext cx="11734800" cy="4850000"/>
          </a:xfrm>
        </p:spPr>
        <p:txBody>
          <a:bodyPr>
            <a:noAutofit/>
          </a:bodyPr>
          <a:lstStyle/>
          <a:p>
            <a:pPr marL="342900" lvl="0" indent="-342900" algn="l">
              <a:lnSpc>
                <a:spcPct val="95000"/>
              </a:lnSpc>
              <a:spcBef>
                <a:spcPts val="0"/>
              </a:spcBef>
              <a:spcAft>
                <a:spcPts val="0"/>
              </a:spcAft>
              <a:buFont typeface="Arial"/>
              <a:buAutoNum type="arabicPeriod"/>
            </a:pPr>
            <a:r>
              <a:rPr lang="en-IN" sz="1600" b="1" dirty="0"/>
              <a:t>Build a Daily Peak-Timing Record:</a:t>
            </a:r>
            <a:r>
              <a:rPr lang="en-IN" sz="1600" dirty="0"/>
              <a:t> Collect Delhi’s daily peak demand from 2010 to 2026, with its size and clock time.</a:t>
            </a:r>
          </a:p>
          <a:p>
            <a:pPr marL="342900" lvl="0" indent="-342900" algn="l">
              <a:lnSpc>
                <a:spcPct val="95000"/>
              </a:lnSpc>
              <a:spcBef>
                <a:spcPts val="0"/>
              </a:spcBef>
              <a:spcAft>
                <a:spcPts val="0"/>
              </a:spcAft>
              <a:buFont typeface="Arial"/>
              <a:buAutoNum type="arabicPeriod"/>
            </a:pPr>
            <a:endParaRPr lang="en-IN" sz="1600" dirty="0"/>
          </a:p>
          <a:p>
            <a:pPr marL="342900" lvl="0" indent="-342900" algn="l">
              <a:lnSpc>
                <a:spcPct val="95000"/>
              </a:lnSpc>
              <a:spcBef>
                <a:spcPts val="700"/>
              </a:spcBef>
              <a:spcAft>
                <a:spcPts val="0"/>
              </a:spcAft>
              <a:buFont typeface="Arial"/>
              <a:buAutoNum type="arabicPeriod" startAt="2"/>
            </a:pPr>
            <a:r>
              <a:rPr lang="en-IN" sz="1600" b="1" dirty="0"/>
              <a:t>Measure the Shift:</a:t>
            </a:r>
            <a:r>
              <a:rPr lang="en-IN" sz="1600" dirty="0"/>
              <a:t> Compare early and recent years to see whether the peak is moving from the afternoon to late night.</a:t>
            </a:r>
          </a:p>
          <a:p>
            <a:pPr marL="342900" lvl="0" indent="-342900" algn="l">
              <a:lnSpc>
                <a:spcPct val="95000"/>
              </a:lnSpc>
              <a:spcBef>
                <a:spcPts val="700"/>
              </a:spcBef>
              <a:spcAft>
                <a:spcPts val="0"/>
              </a:spcAft>
              <a:buFont typeface="Arial"/>
              <a:buAutoNum type="arabicPeriod" startAt="2"/>
            </a:pPr>
            <a:endParaRPr lang="en-IN" sz="1600" dirty="0"/>
          </a:p>
          <a:p>
            <a:pPr marL="342900" lvl="0" indent="-342900" algn="l">
              <a:lnSpc>
                <a:spcPct val="95000"/>
              </a:lnSpc>
              <a:spcBef>
                <a:spcPts val="700"/>
              </a:spcBef>
              <a:spcAft>
                <a:spcPts val="0"/>
              </a:spcAft>
              <a:buFont typeface="Arial"/>
              <a:buAutoNum type="arabicPeriod" startAt="3"/>
            </a:pPr>
            <a:r>
              <a:rPr lang="en-IN" sz="1600" b="1" dirty="0"/>
              <a:t>Locate the Late-Night Window:</a:t>
            </a:r>
            <a:r>
              <a:rPr lang="en-IN" sz="1600" dirty="0"/>
              <a:t> Estimate the centre and spread of the time window where the late-night peak falls.</a:t>
            </a:r>
          </a:p>
          <a:p>
            <a:pPr marL="342900" lvl="0" indent="-342900" algn="l">
              <a:lnSpc>
                <a:spcPct val="95000"/>
              </a:lnSpc>
              <a:spcBef>
                <a:spcPts val="700"/>
              </a:spcBef>
              <a:spcAft>
                <a:spcPts val="0"/>
              </a:spcAft>
              <a:buFont typeface="Arial"/>
              <a:buAutoNum type="arabicPeriod" startAt="3"/>
            </a:pPr>
            <a:endParaRPr lang="en-IN" sz="1600" dirty="0"/>
          </a:p>
          <a:p>
            <a:pPr marL="342900" lvl="0" indent="-342900" algn="l">
              <a:lnSpc>
                <a:spcPct val="95000"/>
              </a:lnSpc>
              <a:spcBef>
                <a:spcPts val="700"/>
              </a:spcBef>
              <a:spcAft>
                <a:spcPts val="0"/>
              </a:spcAft>
              <a:buFont typeface="Arial"/>
              <a:buAutoNum type="arabicPeriod" startAt="4"/>
            </a:pPr>
            <a:r>
              <a:rPr lang="en-IN" sz="1600" b="1" dirty="0"/>
              <a:t>Find What Drives the Peak:</a:t>
            </a:r>
            <a:r>
              <a:rPr lang="en-IN" sz="1600" dirty="0"/>
              <a:t> Use weather and calendar data to explain when the peak happens and how large it is.</a:t>
            </a:r>
          </a:p>
          <a:p>
            <a:pPr marL="342900" lvl="0" indent="-342900" algn="l">
              <a:lnSpc>
                <a:spcPct val="95000"/>
              </a:lnSpc>
              <a:spcBef>
                <a:spcPts val="700"/>
              </a:spcBef>
              <a:spcAft>
                <a:spcPts val="0"/>
              </a:spcAft>
              <a:buFont typeface="Arial"/>
              <a:buAutoNum type="arabicPeriod" startAt="4"/>
            </a:pPr>
            <a:endParaRPr lang="en-IN" sz="1600" dirty="0"/>
          </a:p>
          <a:p>
            <a:pPr marL="342900" lvl="0" indent="-342900" algn="l">
              <a:lnSpc>
                <a:spcPct val="95000"/>
              </a:lnSpc>
              <a:spcBef>
                <a:spcPts val="700"/>
              </a:spcBef>
              <a:spcAft>
                <a:spcPts val="0"/>
              </a:spcAft>
              <a:buFont typeface="Arial"/>
              <a:buAutoNum type="arabicPeriod" startAt="5"/>
            </a:pPr>
            <a:r>
              <a:rPr lang="en-IN" sz="1600" b="1" dirty="0"/>
              <a:t>Find the Heat Threshold:</a:t>
            </a:r>
            <a:r>
              <a:rPr lang="en-IN" sz="1600" dirty="0"/>
              <a:t> Estimate the night temperature above which demand rises faster, and how humidity changes it.</a:t>
            </a:r>
          </a:p>
          <a:p>
            <a:pPr marL="342900" lvl="0" indent="-342900" algn="l">
              <a:lnSpc>
                <a:spcPct val="95000"/>
              </a:lnSpc>
              <a:spcBef>
                <a:spcPts val="700"/>
              </a:spcBef>
              <a:spcAft>
                <a:spcPts val="0"/>
              </a:spcAft>
              <a:buFont typeface="Arial"/>
              <a:buAutoNum type="arabicPeriod" startAt="5"/>
            </a:pPr>
            <a:endParaRPr lang="en-IN" sz="1600" dirty="0"/>
          </a:p>
          <a:p>
            <a:pPr marL="342900" lvl="0" indent="-342900" algn="l">
              <a:lnSpc>
                <a:spcPct val="95000"/>
              </a:lnSpc>
              <a:spcBef>
                <a:spcPts val="700"/>
              </a:spcBef>
              <a:spcAft>
                <a:spcPts val="0"/>
              </a:spcAft>
              <a:buFont typeface="Arial"/>
              <a:buAutoNum type="arabicPeriod" startAt="6"/>
            </a:pPr>
            <a:r>
              <a:rPr lang="en-IN" sz="1600" b="1" dirty="0"/>
              <a:t>Size the Battery Storage:</a:t>
            </a:r>
            <a:r>
              <a:rPr lang="en-IN" sz="1600" dirty="0"/>
              <a:t> Use observed 5-minute load curves to estimate the storage needed to flatten the late-night peak.</a:t>
            </a:r>
          </a:p>
        </p:txBody>
      </p:sp>
      <p:sp>
        <p:nvSpPr>
          <p:cNvPr id="3" name="Slide Number Placeholder 2">
            <a:extLst>
              <a:ext uri="{FF2B5EF4-FFF2-40B4-BE49-F238E27FC236}">
                <a16:creationId xmlns:a16="http://schemas.microsoft.com/office/drawing/2014/main" id="{FBA28644-EF6A-644E-0B7A-6643CF1DE7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
        <p:nvSpPr>
          <p:cNvPr id="4" name="Title 3">
            <a:extLst>
              <a:ext uri="{FF2B5EF4-FFF2-40B4-BE49-F238E27FC236}">
                <a16:creationId xmlns:a16="http://schemas.microsoft.com/office/drawing/2014/main" id="{DA304D01-6A3D-0872-7841-888C72CFDB4D}"/>
              </a:ext>
            </a:extLst>
          </p:cNvPr>
          <p:cNvSpPr>
            <a:spLocks noGrp="1"/>
          </p:cNvSpPr>
          <p:nvPr>
            <p:ph type="title"/>
          </p:nvPr>
        </p:nvSpPr>
        <p:spPr/>
        <p:txBody>
          <a:bodyPr/>
          <a:lstStyle/>
          <a:p>
            <a:r>
              <a:rPr lang="en-IN" dirty="0"/>
              <a:t>Research Objective</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1501764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37CA6D-1D80-6814-E789-DF06D43AE7DD}"/>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600" b="1" dirty="0"/>
              <a:t>What we built:</a:t>
            </a:r>
            <a:r>
              <a:rPr lang="en-IN" sz="1600" dirty="0"/>
              <a:t> A daily record of Delhi’s peak demand: 5,618 days, from 29 March 2010 to 12 January 2026. Each day has the size of the peak (MW) and the clock time it happened (IST).</a:t>
            </a:r>
          </a:p>
          <a:p>
            <a:pPr marL="0" lvl="0" indent="0" algn="l">
              <a:lnSpc>
                <a:spcPct val="95000"/>
              </a:lnSpc>
              <a:spcBef>
                <a:spcPts val="1000"/>
              </a:spcBef>
              <a:spcAft>
                <a:spcPts val="0"/>
              </a:spcAft>
              <a:buNone/>
            </a:pPr>
            <a:r>
              <a:rPr lang="en-IN" sz="1800" b="1" dirty="0"/>
              <a:t>Three sources</a:t>
            </a:r>
          </a:p>
          <a:p>
            <a:pPr marL="342900" lvl="0" indent="-342900" algn="l">
              <a:lnSpc>
                <a:spcPct val="95000"/>
              </a:lnSpc>
              <a:spcBef>
                <a:spcPts val="700"/>
              </a:spcBef>
              <a:spcAft>
                <a:spcPts val="0"/>
              </a:spcAft>
              <a:buFont typeface="+mj-lt"/>
              <a:buAutoNum type="arabicPeriod"/>
            </a:pPr>
            <a:r>
              <a:rPr lang="en-IN" sz="1600" b="1" dirty="0"/>
              <a:t>15-minute data (March 2010 to early 2013):</a:t>
            </a:r>
            <a:r>
              <a:rPr lang="en-IN" sz="1600" dirty="0"/>
              <a:t> 1,078 days from a public Columbia University archive of Delhi load data.</a:t>
            </a:r>
          </a:p>
          <a:p>
            <a:pPr marL="342900" lvl="0" indent="-342900" algn="l">
              <a:lnSpc>
                <a:spcPct val="95000"/>
              </a:lnSpc>
              <a:spcBef>
                <a:spcPts val="700"/>
              </a:spcBef>
              <a:spcAft>
                <a:spcPts val="0"/>
              </a:spcAft>
              <a:buFont typeface="+mj-lt"/>
              <a:buAutoNum type="arabicPeriod" startAt="2"/>
            </a:pPr>
            <a:r>
              <a:rPr lang="en-IN" sz="1600" b="1" dirty="0"/>
              <a:t>Monthly operating reports (2013 to 2022):</a:t>
            </a:r>
            <a:r>
              <a:rPr lang="en-IN" sz="1600" dirty="0"/>
              <a:t> 3,526 days of daily peak size and reported peak time, copied from Delhi SLDC reports, the pdf’s has been extracted manually from the website.</a:t>
            </a:r>
          </a:p>
          <a:p>
            <a:pPr marL="342900" lvl="0" indent="-342900" algn="l">
              <a:lnSpc>
                <a:spcPct val="95000"/>
              </a:lnSpc>
              <a:spcBef>
                <a:spcPts val="700"/>
              </a:spcBef>
              <a:spcAft>
                <a:spcPts val="0"/>
              </a:spcAft>
              <a:buFont typeface="+mj-lt"/>
              <a:buAutoNum type="arabicPeriod" startAt="3"/>
            </a:pPr>
            <a:r>
              <a:rPr lang="en-IN" sz="1600" b="1" dirty="0"/>
              <a:t>5-minute data (2023 to 2026):</a:t>
            </a:r>
            <a:r>
              <a:rPr lang="en-IN" sz="1600" dirty="0"/>
              <a:t> 1,014 days of system load data at 5 mins of interval from kaggel.</a:t>
            </a:r>
          </a:p>
          <a:p>
            <a:pPr marL="0" lvl="0" indent="0" algn="l">
              <a:lnSpc>
                <a:spcPct val="95000"/>
              </a:lnSpc>
              <a:spcBef>
                <a:spcPts val="1000"/>
              </a:spcBef>
              <a:spcAft>
                <a:spcPts val="0"/>
              </a:spcAft>
              <a:buNone/>
            </a:pPr>
            <a:r>
              <a:rPr lang="en-IN" sz="1600" dirty="0"/>
              <a:t>Where sources overlap, the finer one is used. Only sources 1 and 3 are instrument-measured (2,092 days). Source 2 gives the time stated in the report.</a:t>
            </a:r>
          </a:p>
          <a:p>
            <a:pPr marL="0" lvl="0" indent="0" algn="l">
              <a:lnSpc>
                <a:spcPct val="95000"/>
              </a:lnSpc>
              <a:spcBef>
                <a:spcPts val="1000"/>
              </a:spcBef>
              <a:spcAft>
                <a:spcPts val="0"/>
              </a:spcAft>
              <a:buNone/>
            </a:pPr>
            <a:r>
              <a:rPr lang="en-IN" sz="1600" b="1" dirty="0"/>
              <a:t>Weather data:</a:t>
            </a:r>
            <a:r>
              <a:rPr lang="en-IN" sz="1600" dirty="0"/>
              <a:t> daily minimum temperature and humidity for Delhi from Open-Meteo (ERA5), matched to each day’s peak (5,608 of 5,618 days). It is city-wide reanalysis data, not station readings.</a:t>
            </a:r>
          </a:p>
          <a:p>
            <a:pPr marL="0" lvl="0" indent="0" algn="l">
              <a:lnSpc>
                <a:spcPct val="95000"/>
              </a:lnSpc>
              <a:spcBef>
                <a:spcPts val="1000"/>
              </a:spcBef>
              <a:spcAft>
                <a:spcPts val="0"/>
              </a:spcAft>
              <a:buNone/>
            </a:pPr>
            <a:r>
              <a:rPr lang="en-IN" sz="1600" b="1" dirty="0"/>
              <a:t>Checks:</a:t>
            </a:r>
            <a:r>
              <a:rPr lang="en-IN" sz="1600" dirty="0"/>
              <a:t> It reproduces 17 official maxima exactly and differs from CEA monthly figures by 0.52% on average over 33 months.</a:t>
            </a:r>
          </a:p>
        </p:txBody>
      </p:sp>
      <p:sp>
        <p:nvSpPr>
          <p:cNvPr id="3" name="Slide Number Placeholder 2">
            <a:extLst>
              <a:ext uri="{FF2B5EF4-FFF2-40B4-BE49-F238E27FC236}">
                <a16:creationId xmlns:a16="http://schemas.microsoft.com/office/drawing/2014/main" id="{FC65BD3E-B809-CA64-A097-63BE1C16258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
        <p:nvSpPr>
          <p:cNvPr id="4" name="Title 3">
            <a:extLst>
              <a:ext uri="{FF2B5EF4-FFF2-40B4-BE49-F238E27FC236}">
                <a16:creationId xmlns:a16="http://schemas.microsoft.com/office/drawing/2014/main" id="{86CBDEAB-39B5-88FE-0F38-9F3AF76DB3F3}"/>
              </a:ext>
            </a:extLst>
          </p:cNvPr>
          <p:cNvSpPr>
            <a:spLocks noGrp="1"/>
          </p:cNvSpPr>
          <p:nvPr>
            <p:ph type="title"/>
          </p:nvPr>
        </p:nvSpPr>
        <p:spPr/>
        <p:txBody>
          <a:bodyPr/>
          <a:lstStyle/>
          <a:p>
            <a:r>
              <a:rPr lang="en-IN" dirty="0"/>
              <a:t>Dataset </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207464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BC681C-09D0-4A75-55DB-AB91A774BE07}"/>
              </a:ext>
            </a:extLst>
          </p:cNvPr>
          <p:cNvSpPr>
            <a:spLocks noGrp="1"/>
          </p:cNvSpPr>
          <p:nvPr>
            <p:ph type="body" idx="1"/>
          </p:nvPr>
        </p:nvSpPr>
        <p:spPr>
          <a:xfrm>
            <a:off x="179832" y="1000000"/>
            <a:ext cx="11734800" cy="4850000"/>
          </a:xfrm>
        </p:spPr>
        <p:txBody>
          <a:bodyPr>
            <a:noAutofit/>
          </a:bodyPr>
          <a:lstStyle/>
          <a:p>
            <a:pPr marL="342900" lvl="0" indent="-342900" algn="l">
              <a:lnSpc>
                <a:spcPct val="95000"/>
              </a:lnSpc>
              <a:spcBef>
                <a:spcPts val="0"/>
              </a:spcBef>
              <a:spcAft>
                <a:spcPts val="0"/>
              </a:spcAft>
              <a:buFont typeface="Arial"/>
              <a:buAutoNum type="arabicPeriod"/>
            </a:pPr>
            <a:r>
              <a:rPr lang="en-IN" sz="1600" b="1" dirty="0"/>
              <a:t>Nighttime Cooling Degree Days (CDD)</a:t>
            </a:r>
            <a:br>
              <a:rPr lang="en-IN" sz="1600" dirty="0"/>
            </a:br>
            <a:r>
              <a:rPr lang="en-IN" sz="1600" dirty="0"/>
              <a:t>Formula: CDD = max(0, Tmin − 18 °C). We use the night minimum, not the daytime maximum. If the night stays above 18 °C, natural cooling stops and ACs run all night.</a:t>
            </a:r>
          </a:p>
          <a:p>
            <a:pPr marL="342900" lvl="0" indent="-342900" algn="l">
              <a:lnSpc>
                <a:spcPct val="95000"/>
              </a:lnSpc>
              <a:spcBef>
                <a:spcPts val="700"/>
              </a:spcBef>
              <a:spcAft>
                <a:spcPts val="0"/>
              </a:spcAft>
              <a:buFont typeface="Arial"/>
              <a:buAutoNum type="arabicPeriod" startAt="2"/>
            </a:pPr>
            <a:r>
              <a:rPr lang="en-IN" sz="1600" b="1" dirty="0"/>
              <a:t>Heat and Humidity Interaction</a:t>
            </a:r>
            <a:br>
              <a:rPr lang="en-IN" sz="1600" dirty="0"/>
            </a:br>
            <a:r>
              <a:rPr lang="en-IN" sz="1600" dirty="0"/>
              <a:t>Formula: latent = CDD × (RH − average RH). Hot, humid nights make ACs work harder. We subtract the average humidity first so this term is not just a copy of CDD.</a:t>
            </a:r>
          </a:p>
          <a:p>
            <a:pPr marL="342900" lvl="0" indent="-342900" algn="l">
              <a:lnSpc>
                <a:spcPct val="95000"/>
              </a:lnSpc>
              <a:spcBef>
                <a:spcPts val="700"/>
              </a:spcBef>
              <a:spcAft>
                <a:spcPts val="0"/>
              </a:spcAft>
              <a:buFont typeface="Arial"/>
              <a:buAutoNum type="arabicPeriod" startAt="3"/>
            </a:pPr>
            <a:r>
              <a:rPr lang="en-IN" sz="1600" b="1" dirty="0"/>
              <a:t>Nocturnal Thermal Mass</a:t>
            </a:r>
            <a:br>
              <a:rPr lang="en-IN" sz="1600" dirty="0"/>
            </a:br>
            <a:r>
              <a:rPr lang="en-IN" sz="1600" dirty="0"/>
              <a:t>Formula: Tmin². Squaring makes very hot nights count more than warm ones. It stands in for heat stored in buildings and released after sunset.</a:t>
            </a:r>
          </a:p>
          <a:p>
            <a:pPr marL="342900" lvl="0" indent="-342900" algn="l">
              <a:lnSpc>
                <a:spcPct val="95000"/>
              </a:lnSpc>
              <a:spcBef>
                <a:spcPts val="700"/>
              </a:spcBef>
              <a:spcAft>
                <a:spcPts val="0"/>
              </a:spcAft>
              <a:buFont typeface="Arial"/>
              <a:buAutoNum type="arabicPeriod" startAt="4"/>
            </a:pPr>
            <a:r>
              <a:rPr lang="en-IN" sz="1600" b="1" dirty="0"/>
              <a:t>Long-Term Trend</a:t>
            </a:r>
            <a:br>
              <a:rPr lang="en-IN" sz="1600" dirty="0"/>
            </a:br>
            <a:r>
              <a:rPr lang="en-IN" sz="1600" dirty="0"/>
              <a:t>Formula: Trend = days since the first record. It stands in for growing AC use, but it also picks up population and floor space growth.</a:t>
            </a:r>
          </a:p>
          <a:p>
            <a:pPr marL="342900" lvl="0" indent="-342900" algn="l">
              <a:lnSpc>
                <a:spcPct val="95000"/>
              </a:lnSpc>
              <a:spcBef>
                <a:spcPts val="700"/>
              </a:spcBef>
              <a:spcAft>
                <a:spcPts val="0"/>
              </a:spcAft>
              <a:buFont typeface="Arial"/>
              <a:buAutoNum type="arabicPeriod" startAt="5"/>
            </a:pPr>
            <a:r>
              <a:rPr lang="en-IN" sz="1600" b="1" dirty="0"/>
              <a:t>Calendar Variables</a:t>
            </a:r>
            <a:br>
              <a:rPr lang="en-IN" sz="1600" dirty="0"/>
            </a:br>
            <a:r>
              <a:rPr lang="en-IN" sz="1600" dirty="0"/>
              <a:t>Weekend flag: marks weekend days. Peaks fall at night more often on weekends.</a:t>
            </a:r>
            <a:br>
              <a:rPr lang="en-IN" sz="1600" dirty="0"/>
            </a:br>
            <a:r>
              <a:rPr lang="en-IN" sz="1600" dirty="0"/>
              <a:t>Month indicators: one flag for each month, to capture the season.</a:t>
            </a:r>
          </a:p>
        </p:txBody>
      </p:sp>
      <p:sp>
        <p:nvSpPr>
          <p:cNvPr id="3" name="Slide Number Placeholder 2">
            <a:extLst>
              <a:ext uri="{FF2B5EF4-FFF2-40B4-BE49-F238E27FC236}">
                <a16:creationId xmlns:a16="http://schemas.microsoft.com/office/drawing/2014/main" id="{0C428682-284B-448A-EBCF-8B12D1568D7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
        <p:nvSpPr>
          <p:cNvPr id="4" name="Title 3">
            <a:extLst>
              <a:ext uri="{FF2B5EF4-FFF2-40B4-BE49-F238E27FC236}">
                <a16:creationId xmlns:a16="http://schemas.microsoft.com/office/drawing/2014/main" id="{6D3C7402-BCE3-4C1F-D734-7EB8AE4A36F6}"/>
              </a:ext>
            </a:extLst>
          </p:cNvPr>
          <p:cNvSpPr>
            <a:spLocks noGrp="1"/>
          </p:cNvSpPr>
          <p:nvPr>
            <p:ph type="title"/>
          </p:nvPr>
        </p:nvSpPr>
        <p:spPr/>
        <p:txBody>
          <a:bodyPr/>
          <a:lstStyle/>
          <a:p>
            <a:r>
              <a:rPr lang="en-IN" dirty="0"/>
              <a:t>Feature Engineering</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2129010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2E0779-9583-3A34-8136-FA731ADFDDA0}"/>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600" dirty="0"/>
              <a:t>Target </a:t>
            </a:r>
            <a:r>
              <a:rPr lang="en-IN" sz="1600" b="1" dirty="0"/>
              <a:t>P</a:t>
            </a:r>
            <a:r>
              <a:rPr lang="en-IN" sz="1600" dirty="0"/>
              <a:t>: monthly peak demand of Delhi (MW). Data: 128 months, 2013 to 2025, with 2020 and 2021 excluded.</a:t>
            </a:r>
          </a:p>
          <a:p>
            <a:pPr marL="0" lvl="0" indent="0" algn="l">
              <a:lnSpc>
                <a:spcPct val="95000"/>
              </a:lnSpc>
              <a:spcBef>
                <a:spcPts val="1000"/>
              </a:spcBef>
              <a:spcAft>
                <a:spcPts val="0"/>
              </a:spcAft>
              <a:buNone/>
            </a:pPr>
            <a:r>
              <a:rPr lang="en-IN" sz="1800" b="1" dirty="0"/>
              <a:t>Model Equation (Ridge Regression)</a:t>
            </a:r>
          </a:p>
          <a:p>
            <a:pPr marL="0" lvl="0" indent="0" algn="l">
              <a:lnSpc>
                <a:spcPct val="95000"/>
              </a:lnSpc>
              <a:spcBef>
                <a:spcPts val="400"/>
              </a:spcBef>
              <a:spcAft>
                <a:spcPts val="0"/>
              </a:spcAft>
              <a:buNone/>
            </a:pPr>
            <a:r>
              <a:rPr lang="en-IN" sz="1600" b="1" dirty="0"/>
              <a:t>P̂ = β</a:t>
            </a:r>
            <a:r>
              <a:rPr lang="en-IN" sz="1600" b="1" baseline="-25000" dirty="0"/>
              <a:t>0</a:t>
            </a:r>
            <a:r>
              <a:rPr lang="en-IN" sz="1600" b="1" dirty="0"/>
              <a:t> + β</a:t>
            </a:r>
            <a:r>
              <a:rPr lang="en-IN" sz="1600" b="1" baseline="-25000" dirty="0"/>
              <a:t>1</a:t>
            </a:r>
            <a:r>
              <a:rPr lang="en-IN" sz="1600" b="1" dirty="0"/>
              <a:t>·CDD + β</a:t>
            </a:r>
            <a:r>
              <a:rPr lang="en-IN" sz="1600" b="1" baseline="-25000" dirty="0"/>
              <a:t>2</a:t>
            </a:r>
            <a:r>
              <a:rPr lang="en-IN" sz="1600" b="1" dirty="0"/>
              <a:t>·T</a:t>
            </a:r>
            <a:r>
              <a:rPr lang="en-IN" sz="1600" b="1" baseline="-25000" dirty="0"/>
              <a:t>min</a:t>
            </a:r>
            <a:r>
              <a:rPr lang="en-IN" sz="1600" b="1" baseline="30000" dirty="0"/>
              <a:t>2</a:t>
            </a:r>
            <a:r>
              <a:rPr lang="en-IN" sz="1600" b="1" dirty="0"/>
              <a:t> + β</a:t>
            </a:r>
            <a:r>
              <a:rPr lang="en-IN" sz="1600" b="1" baseline="-25000" dirty="0"/>
              <a:t>3</a:t>
            </a:r>
            <a:r>
              <a:rPr lang="en-IN" sz="1600" b="1" dirty="0"/>
              <a:t>·H̃ + β</a:t>
            </a:r>
            <a:r>
              <a:rPr lang="en-IN" sz="1600" b="1" baseline="-25000" dirty="0"/>
              <a:t>4</a:t>
            </a:r>
            <a:r>
              <a:rPr lang="en-IN" sz="1600" b="1" dirty="0"/>
              <a:t>·(CDD × H̃) + β</a:t>
            </a:r>
            <a:r>
              <a:rPr lang="en-IN" sz="1600" b="1" baseline="-25000" dirty="0"/>
              <a:t>5</a:t>
            </a:r>
            <a:r>
              <a:rPr lang="en-IN" sz="1600" b="1" dirty="0"/>
              <a:t>·t + β</a:t>
            </a:r>
            <a:r>
              <a:rPr lang="en-IN" sz="1600" b="1" baseline="-25000" dirty="0"/>
              <a:t>6</a:t>
            </a:r>
            <a:r>
              <a:rPr lang="en-IN" sz="1600" b="1" dirty="0"/>
              <a:t>·W + Σ γ</a:t>
            </a:r>
            <a:r>
              <a:rPr lang="en-IN" sz="1600" b="1" baseline="-25000" dirty="0"/>
              <a:t>k</a:t>
            </a:r>
            <a:r>
              <a:rPr lang="en-IN" sz="1600" b="1" dirty="0"/>
              <a:t>·M</a:t>
            </a:r>
            <a:r>
              <a:rPr lang="en-IN" sz="1600" b="1" baseline="-25000" dirty="0"/>
              <a:t>k</a:t>
            </a:r>
          </a:p>
          <a:p>
            <a:pPr marL="0" lvl="0" indent="0" algn="l">
              <a:lnSpc>
                <a:spcPct val="95000"/>
              </a:lnSpc>
              <a:spcBef>
                <a:spcPts val="1000"/>
              </a:spcBef>
              <a:spcAft>
                <a:spcPts val="0"/>
              </a:spcAft>
              <a:buNone/>
            </a:pPr>
            <a:r>
              <a:rPr lang="en-IN" sz="1800" b="1" dirty="0"/>
              <a:t>Variables</a:t>
            </a:r>
          </a:p>
          <a:p>
            <a:pPr marL="285750" lvl="0" indent="-285750" algn="l">
              <a:lnSpc>
                <a:spcPct val="95000"/>
              </a:lnSpc>
              <a:spcBef>
                <a:spcPts val="400"/>
              </a:spcBef>
              <a:spcAft>
                <a:spcPts val="0"/>
              </a:spcAft>
              <a:buFont typeface="Arial"/>
              <a:buChar char="•"/>
            </a:pPr>
            <a:r>
              <a:rPr lang="en-IN" sz="1600" b="1" dirty="0"/>
              <a:t>CDD:</a:t>
            </a:r>
            <a:r>
              <a:rPr lang="en-IN" sz="1600" dirty="0"/>
              <a:t> cooling degree days, max(0, T</a:t>
            </a:r>
            <a:r>
              <a:rPr lang="en-IN" sz="1600" baseline="-25000" dirty="0"/>
              <a:t>min</a:t>
            </a:r>
            <a:r>
              <a:rPr lang="en-IN" sz="1600" dirty="0"/>
              <a:t> − 18 °C), from the monthly mean nighttime minimum</a:t>
            </a:r>
          </a:p>
          <a:p>
            <a:pPr marL="285750" lvl="0" indent="-285750" algn="l">
              <a:lnSpc>
                <a:spcPct val="95000"/>
              </a:lnSpc>
              <a:spcBef>
                <a:spcPts val="400"/>
              </a:spcBef>
              <a:spcAft>
                <a:spcPts val="0"/>
              </a:spcAft>
              <a:buFont typeface="Arial"/>
              <a:buChar char="•"/>
            </a:pPr>
            <a:r>
              <a:rPr lang="en-IN" sz="1600" b="1" dirty="0"/>
              <a:t>T</a:t>
            </a:r>
            <a:r>
              <a:rPr lang="en-IN" sz="1600" b="1" baseline="-25000" dirty="0"/>
              <a:t>min</a:t>
            </a:r>
            <a:r>
              <a:rPr lang="en-IN" sz="1600" b="1" baseline="30000" dirty="0"/>
              <a:t>2</a:t>
            </a:r>
            <a:r>
              <a:rPr lang="en-IN" sz="1600" b="1" dirty="0"/>
              <a:t>:</a:t>
            </a:r>
            <a:r>
              <a:rPr lang="en-IN" sz="1600" dirty="0"/>
              <a:t> squared monthly mean T</a:t>
            </a:r>
            <a:r>
              <a:rPr lang="en-IN" sz="1600" baseline="-25000" dirty="0"/>
              <a:t>min</a:t>
            </a:r>
            <a:r>
              <a:rPr lang="en-IN" sz="1600" dirty="0"/>
              <a:t>, the nocturnal thermal mass</a:t>
            </a:r>
          </a:p>
          <a:p>
            <a:pPr marL="285750" lvl="0" indent="-285750" algn="l">
              <a:lnSpc>
                <a:spcPct val="95000"/>
              </a:lnSpc>
              <a:spcBef>
                <a:spcPts val="400"/>
              </a:spcBef>
              <a:spcAft>
                <a:spcPts val="0"/>
              </a:spcAft>
              <a:buFont typeface="Arial"/>
              <a:buChar char="•"/>
            </a:pPr>
            <a:r>
              <a:rPr lang="en-IN" sz="1600" b="1" dirty="0"/>
              <a:t>H̃:</a:t>
            </a:r>
            <a:r>
              <a:rPr lang="en-IN" sz="1600" dirty="0"/>
              <a:t> monthly mean humidity, centred on its overall mean</a:t>
            </a:r>
          </a:p>
          <a:p>
            <a:pPr marL="285750" lvl="0" indent="-285750" algn="l">
              <a:lnSpc>
                <a:spcPct val="95000"/>
              </a:lnSpc>
              <a:spcBef>
                <a:spcPts val="400"/>
              </a:spcBef>
              <a:spcAft>
                <a:spcPts val="0"/>
              </a:spcAft>
              <a:buFont typeface="Arial"/>
              <a:buChar char="•"/>
            </a:pPr>
            <a:r>
              <a:rPr lang="en-IN" sz="1600" b="1" dirty="0"/>
              <a:t>CDD × H̃:</a:t>
            </a:r>
            <a:r>
              <a:rPr lang="en-IN" sz="1600" dirty="0"/>
              <a:t> latent heat interaction between heat and humidity</a:t>
            </a:r>
          </a:p>
          <a:p>
            <a:pPr marL="285750" lvl="0" indent="-285750" algn="l">
              <a:lnSpc>
                <a:spcPct val="95000"/>
              </a:lnSpc>
              <a:spcBef>
                <a:spcPts val="400"/>
              </a:spcBef>
              <a:spcAft>
                <a:spcPts val="0"/>
              </a:spcAft>
              <a:buFont typeface="Arial"/>
              <a:buChar char="•"/>
            </a:pPr>
            <a:r>
              <a:rPr lang="en-IN" sz="1600" b="1" dirty="0"/>
              <a:t>t:</a:t>
            </a:r>
            <a:r>
              <a:rPr lang="en-IN" sz="1600" dirty="0"/>
              <a:t> days since the first month, the trend for growing demand</a:t>
            </a:r>
          </a:p>
          <a:p>
            <a:pPr marL="285750" lvl="0" indent="-285750" algn="l">
              <a:lnSpc>
                <a:spcPct val="95000"/>
              </a:lnSpc>
              <a:spcBef>
                <a:spcPts val="400"/>
              </a:spcBef>
              <a:spcAft>
                <a:spcPts val="0"/>
              </a:spcAft>
              <a:buFont typeface="Arial"/>
              <a:buChar char="•"/>
            </a:pPr>
            <a:r>
              <a:rPr lang="en-IN" sz="1600" b="1" dirty="0"/>
              <a:t>W:</a:t>
            </a:r>
            <a:r>
              <a:rPr lang="en-IN" sz="1600" dirty="0"/>
              <a:t> weekend share of the month</a:t>
            </a:r>
          </a:p>
          <a:p>
            <a:pPr marL="285750" lvl="0" indent="-285750" algn="l">
              <a:lnSpc>
                <a:spcPct val="95000"/>
              </a:lnSpc>
              <a:spcBef>
                <a:spcPts val="400"/>
              </a:spcBef>
              <a:spcAft>
                <a:spcPts val="0"/>
              </a:spcAft>
              <a:buFont typeface="Arial"/>
              <a:buChar char="•"/>
            </a:pPr>
            <a:r>
              <a:rPr lang="en-IN" sz="1600" b="1" dirty="0"/>
              <a:t>M</a:t>
            </a:r>
            <a:r>
              <a:rPr lang="en-IN" sz="1600" b="1" baseline="-25000" dirty="0"/>
              <a:t>k</a:t>
            </a:r>
            <a:r>
              <a:rPr lang="en-IN" sz="1600" b="1" dirty="0"/>
              <a:t>:</a:t>
            </a:r>
            <a:r>
              <a:rPr lang="en-IN" sz="1600" dirty="0"/>
              <a:t> month indicators for February to December, with January as the baseline</a:t>
            </a:r>
          </a:p>
          <a:p>
            <a:pPr marL="0" lvl="0" indent="0" algn="l">
              <a:lnSpc>
                <a:spcPct val="95000"/>
              </a:lnSpc>
              <a:spcBef>
                <a:spcPts val="1000"/>
              </a:spcBef>
              <a:spcAft>
                <a:spcPts val="0"/>
              </a:spcAft>
              <a:buNone/>
            </a:pPr>
            <a:r>
              <a:rPr lang="en-IN" sz="1800" b="1" dirty="0"/>
              <a:t>Regularizer: L2 (Ridge) Penalty</a:t>
            </a:r>
          </a:p>
          <a:p>
            <a:pPr marL="0" lvl="0" indent="0" algn="l">
              <a:lnSpc>
                <a:spcPct val="95000"/>
              </a:lnSpc>
              <a:spcBef>
                <a:spcPts val="400"/>
              </a:spcBef>
              <a:spcAft>
                <a:spcPts val="0"/>
              </a:spcAft>
              <a:buNone/>
            </a:pPr>
            <a:r>
              <a:rPr lang="en-IN" sz="1600" dirty="0"/>
              <a:t>Minimizes Σ(P − P̂)</a:t>
            </a:r>
            <a:r>
              <a:rPr lang="en-IN" sz="1600" baseline="30000" dirty="0"/>
              <a:t>2</a:t>
            </a:r>
            <a:r>
              <a:rPr lang="en-IN" sz="1600" dirty="0"/>
              <a:t> + α Σ β</a:t>
            </a:r>
            <a:r>
              <a:rPr lang="en-IN" sz="1600" baseline="-25000" dirty="0"/>
              <a:t>j</a:t>
            </a:r>
            <a:r>
              <a:rPr lang="en-IN" sz="1600" baseline="30000" dirty="0"/>
              <a:t>2</a:t>
            </a:r>
            <a:r>
              <a:rPr lang="en-IN" sz="1600" dirty="0"/>
              <a:t>, which handles correlated weather predictors. α is chosen by RidgeCV (30 values from 0.001 to 100; selected 0.005 to 0.85 across folds).</a:t>
            </a:r>
          </a:p>
        </p:txBody>
      </p:sp>
      <p:sp>
        <p:nvSpPr>
          <p:cNvPr id="3" name="Slide Number Placeholder 2">
            <a:extLst>
              <a:ext uri="{FF2B5EF4-FFF2-40B4-BE49-F238E27FC236}">
                <a16:creationId xmlns:a16="http://schemas.microsoft.com/office/drawing/2014/main" id="{04ABD97D-4FA3-187B-9117-5FF134E9F4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sp>
        <p:nvSpPr>
          <p:cNvPr id="4" name="Title 3">
            <a:extLst>
              <a:ext uri="{FF2B5EF4-FFF2-40B4-BE49-F238E27FC236}">
                <a16:creationId xmlns:a16="http://schemas.microsoft.com/office/drawing/2014/main" id="{6649D820-BB16-7364-DE41-DC59DF335495}"/>
              </a:ext>
            </a:extLst>
          </p:cNvPr>
          <p:cNvSpPr>
            <a:spLocks noGrp="1"/>
          </p:cNvSpPr>
          <p:nvPr>
            <p:ph type="title"/>
          </p:nvPr>
        </p:nvSpPr>
        <p:spPr/>
        <p:txBody>
          <a:bodyPr/>
          <a:lstStyle/>
          <a:p>
            <a:r>
              <a:rPr lang="en-IN" dirty="0"/>
              <a:t>Magnitude Model: Specification</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1118091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2E0779-9583-3A34-8136-FA731ADFDDA0}"/>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600" dirty="0"/>
              <a:t>The model explains about 88% of the variation in monthly peak demand on data it has not seen (rolling origin cross-validation).</a:t>
            </a:r>
          </a:p>
          <a:p>
            <a:pPr marL="0" lvl="0" indent="0" algn="l">
              <a:lnSpc>
                <a:spcPct val="95000"/>
              </a:lnSpc>
              <a:spcBef>
                <a:spcPts val="1000"/>
              </a:spcBef>
              <a:spcAft>
                <a:spcPts val="0"/>
              </a:spcAft>
              <a:buNone/>
            </a:pPr>
            <a:r>
              <a:rPr lang="en-IN" sz="1800" b="1" dirty="0"/>
              <a:t>Model Performance</a:t>
            </a:r>
          </a:p>
          <a:p>
            <a:pPr marL="285750" lvl="0" indent="-285750" algn="l">
              <a:lnSpc>
                <a:spcPct val="95000"/>
              </a:lnSpc>
              <a:spcBef>
                <a:spcPts val="400"/>
              </a:spcBef>
              <a:spcAft>
                <a:spcPts val="0"/>
              </a:spcAft>
              <a:buFont typeface="Arial"/>
              <a:buChar char="•"/>
            </a:pPr>
            <a:r>
              <a:rPr lang="en-IN" sz="1600" b="1" dirty="0"/>
              <a:t>Cross-Validation (5 Folds): R² = 0.8835</a:t>
            </a:r>
            <a:r>
              <a:rPr lang="en-IN" sz="1600" dirty="0"/>
              <a:t> (SD ±0.0119) with a Root Mean Square Error (</a:t>
            </a:r>
            <a:r>
              <a:rPr lang="en-IN" sz="1600" b="1" dirty="0"/>
              <a:t>RMSE</a:t>
            </a:r>
            <a:r>
              <a:rPr lang="en-IN" sz="1600" dirty="0"/>
              <a:t>) of </a:t>
            </a:r>
            <a:r>
              <a:rPr lang="en-IN" sz="1600" b="1" dirty="0"/>
              <a:t>383 MW</a:t>
            </a:r>
            <a:r>
              <a:rPr lang="en-IN" sz="1600" dirty="0"/>
              <a:t>.</a:t>
            </a:r>
          </a:p>
          <a:p>
            <a:pPr marL="285750" lvl="0" indent="-285750" algn="l">
              <a:lnSpc>
                <a:spcPct val="95000"/>
              </a:lnSpc>
              <a:spcBef>
                <a:spcPts val="400"/>
              </a:spcBef>
              <a:spcAft>
                <a:spcPts val="0"/>
              </a:spcAft>
              <a:buFont typeface="Arial"/>
              <a:buChar char="•"/>
            </a:pPr>
            <a:r>
              <a:rPr lang="en-IN" sz="1600" b="1" dirty="0"/>
              <a:t>Held-Out Test (Full Year 2025):</a:t>
            </a:r>
            <a:r>
              <a:rPr lang="en-IN" sz="1600" dirty="0"/>
              <a:t> trained on data through 2024 and tested on all 12 observed months of 2025 without refitting: </a:t>
            </a:r>
            <a:r>
              <a:rPr lang="en-IN" sz="1600" b="1" dirty="0"/>
              <a:t>R² = 0.8747</a:t>
            </a:r>
            <a:r>
              <a:rPr lang="en-IN" sz="1600" dirty="0"/>
              <a:t> | </a:t>
            </a:r>
            <a:r>
              <a:rPr lang="en-IN" sz="1600" b="1" dirty="0"/>
              <a:t>RMSE = 464 MW</a:t>
            </a:r>
            <a:r>
              <a:rPr lang="en-IN" sz="1600" dirty="0"/>
              <a:t> | </a:t>
            </a:r>
            <a:r>
              <a:rPr lang="en-IN" sz="1600" b="1" dirty="0"/>
              <a:t>MAPE = 6.48%</a:t>
            </a:r>
            <a:r>
              <a:rPr lang="en-IN" sz="1600" dirty="0"/>
              <a:t>.</a:t>
            </a:r>
          </a:p>
          <a:p>
            <a:pPr marL="285750" lvl="0" indent="-285750" algn="l">
              <a:lnSpc>
                <a:spcPct val="95000"/>
              </a:lnSpc>
              <a:spcBef>
                <a:spcPts val="400"/>
              </a:spcBef>
              <a:spcAft>
                <a:spcPts val="0"/>
              </a:spcAft>
              <a:buFont typeface="Arial"/>
              <a:buChar char="•"/>
            </a:pPr>
            <a:r>
              <a:rPr lang="en-IN" sz="1600" b="1" dirty="0"/>
              <a:t>Prediction Band:</a:t>
            </a:r>
            <a:r>
              <a:rPr lang="en-IN" sz="1600" dirty="0"/>
              <a:t> the ±RMSE band covers 69.5% of out of fold months. The empirical 95% interval runs from −698 to +783 MW.</a:t>
            </a:r>
          </a:p>
          <a:p>
            <a:pPr marL="0" lvl="0" indent="0" algn="l">
              <a:lnSpc>
                <a:spcPct val="95000"/>
              </a:lnSpc>
              <a:spcBef>
                <a:spcPts val="1000"/>
              </a:spcBef>
              <a:spcAft>
                <a:spcPts val="0"/>
              </a:spcAft>
              <a:buNone/>
            </a:pPr>
            <a:r>
              <a:rPr lang="en-IN" sz="1800" b="1" dirty="0"/>
              <a:t>Benchmark Models Evaluated</a:t>
            </a:r>
          </a:p>
          <a:p>
            <a:pPr marL="285750" lvl="0" indent="-285750" algn="l">
              <a:lnSpc>
                <a:spcPct val="95000"/>
              </a:lnSpc>
              <a:spcBef>
                <a:spcPts val="400"/>
              </a:spcBef>
              <a:spcAft>
                <a:spcPts val="0"/>
              </a:spcAft>
              <a:buFont typeface="Arial"/>
              <a:buChar char="•"/>
            </a:pPr>
            <a:r>
              <a:rPr lang="en-IN" sz="1600" b="1" dirty="0"/>
              <a:t>Unpenalized OLS:</a:t>
            </a:r>
            <a:r>
              <a:rPr lang="en-IN" sz="1600" dirty="0"/>
              <a:t> R² = 0.8785.</a:t>
            </a:r>
          </a:p>
          <a:p>
            <a:pPr marL="285750" lvl="0" indent="-285750" algn="l">
              <a:lnSpc>
                <a:spcPct val="95000"/>
              </a:lnSpc>
              <a:spcBef>
                <a:spcPts val="400"/>
              </a:spcBef>
              <a:spcAft>
                <a:spcPts val="0"/>
              </a:spcAft>
              <a:buFont typeface="Arial"/>
              <a:buChar char="•"/>
            </a:pPr>
            <a:r>
              <a:rPr lang="en-IN" sz="1600" b="1" dirty="0"/>
              <a:t>LassoCV (L1 Regularization):</a:t>
            </a:r>
            <a:r>
              <a:rPr lang="en-IN" sz="1600" dirty="0"/>
              <a:t> R² = 0.8572.</a:t>
            </a:r>
          </a:p>
          <a:p>
            <a:pPr marL="285750" lvl="0" indent="-285750" algn="l">
              <a:lnSpc>
                <a:spcPct val="95000"/>
              </a:lnSpc>
              <a:spcBef>
                <a:spcPts val="400"/>
              </a:spcBef>
              <a:spcAft>
                <a:spcPts val="0"/>
              </a:spcAft>
              <a:buFont typeface="Arial"/>
              <a:buChar char="•"/>
            </a:pPr>
            <a:r>
              <a:rPr lang="en-IN" sz="1600" b="1" dirty="0"/>
              <a:t>Random Forest Regressor:</a:t>
            </a:r>
            <a:r>
              <a:rPr lang="en-IN" sz="1600" dirty="0"/>
              <a:t> R² = 0.7550.</a:t>
            </a:r>
          </a:p>
          <a:p>
            <a:pPr marL="285750" lvl="0" indent="-285750" algn="l">
              <a:lnSpc>
                <a:spcPct val="95000"/>
              </a:lnSpc>
              <a:spcBef>
                <a:spcPts val="400"/>
              </a:spcBef>
              <a:spcAft>
                <a:spcPts val="0"/>
              </a:spcAft>
              <a:buFont typeface="Arial"/>
              <a:buChar char="•"/>
            </a:pPr>
            <a:r>
              <a:rPr lang="en-IN" sz="1600" b="1" dirty="0"/>
              <a:t>Seasonal-Naive Baseline:</a:t>
            </a:r>
            <a:r>
              <a:rPr lang="en-IN" sz="1600" dirty="0"/>
              <a:t> R² = 0.8159.</a:t>
            </a:r>
          </a:p>
          <a:p>
            <a:pPr marL="0" lvl="0" indent="0" algn="l">
              <a:lnSpc>
                <a:spcPct val="95000"/>
              </a:lnSpc>
              <a:spcBef>
                <a:spcPts val="1000"/>
              </a:spcBef>
              <a:spcAft>
                <a:spcPts val="0"/>
              </a:spcAft>
              <a:buNone/>
            </a:pPr>
            <a:r>
              <a:rPr lang="en-IN" sz="1600" dirty="0"/>
              <a:t>So this model is helpful to predict the coming peak in the months, but its not a fully peak predictive model because of interval runs from −698 to +783 MW. It does well as a baseline model for the upcoming peaks. Furthermore, we found out the weather variables are averaged out here so they don’t contribute much (only 0.0095). Weather variables are much stronger predictors when observing daily data.</a:t>
            </a:r>
          </a:p>
        </p:txBody>
      </p:sp>
      <p:sp>
        <p:nvSpPr>
          <p:cNvPr id="3" name="Slide Number Placeholder 2">
            <a:extLst>
              <a:ext uri="{FF2B5EF4-FFF2-40B4-BE49-F238E27FC236}">
                <a16:creationId xmlns:a16="http://schemas.microsoft.com/office/drawing/2014/main" id="{04ABD97D-4FA3-187B-9117-5FF134E9F4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
        <p:nvSpPr>
          <p:cNvPr id="4" name="Title 3">
            <a:extLst>
              <a:ext uri="{FF2B5EF4-FFF2-40B4-BE49-F238E27FC236}">
                <a16:creationId xmlns:a16="http://schemas.microsoft.com/office/drawing/2014/main" id="{6649D820-BB16-7364-DE41-DC59DF335495}"/>
              </a:ext>
            </a:extLst>
          </p:cNvPr>
          <p:cNvSpPr>
            <a:spLocks noGrp="1"/>
          </p:cNvSpPr>
          <p:nvPr>
            <p:ph type="title"/>
          </p:nvPr>
        </p:nvSpPr>
        <p:spPr/>
        <p:txBody>
          <a:bodyPr/>
          <a:lstStyle/>
          <a:p>
            <a:r>
              <a:rPr lang="en-IN" dirty="0"/>
              <a:t>Magnitude Model: Performance</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1118091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1AF513-6BFB-7A10-090C-EDCEA767ED38}"/>
              </a:ext>
            </a:extLst>
          </p:cNvPr>
          <p:cNvSpPr>
            <a:spLocks noGrp="1"/>
          </p:cNvSpPr>
          <p:nvPr>
            <p:ph type="body" idx="1"/>
          </p:nvPr>
        </p:nvSpPr>
        <p:spPr>
          <a:xfrm>
            <a:off x="179832" y="1000000"/>
            <a:ext cx="6768112" cy="4850000"/>
          </a:xfrm>
        </p:spPr>
        <p:txBody>
          <a:bodyPr>
            <a:noAutofit/>
          </a:bodyPr>
          <a:lstStyle/>
          <a:p>
            <a:pPr marL="0" lvl="0" indent="0" algn="l">
              <a:lnSpc>
                <a:spcPct val="95000"/>
              </a:lnSpc>
              <a:spcBef>
                <a:spcPts val="0"/>
              </a:spcBef>
              <a:spcAft>
                <a:spcPts val="0"/>
              </a:spcAft>
              <a:buNone/>
            </a:pPr>
            <a:r>
              <a:rPr lang="en-IN" sz="1800" b="1" dirty="0"/>
              <a:t>Two Eras Compared</a:t>
            </a:r>
          </a:p>
          <a:p>
            <a:pPr marL="0" lvl="0" indent="0" algn="l">
              <a:lnSpc>
                <a:spcPct val="95000"/>
              </a:lnSpc>
              <a:spcBef>
                <a:spcPts val="400"/>
              </a:spcBef>
              <a:spcAft>
                <a:spcPts val="0"/>
              </a:spcAft>
              <a:buNone/>
            </a:pPr>
            <a:r>
              <a:rPr lang="en-IN" sz="1600" dirty="0"/>
              <a:t>After comparing the data from two eras, 2010–2012 and 2023–2025, we found:</a:t>
            </a:r>
          </a:p>
          <a:p>
            <a:pPr marL="342900" lvl="0" indent="-342900" algn="l">
              <a:lnSpc>
                <a:spcPct val="95000"/>
              </a:lnSpc>
              <a:spcBef>
                <a:spcPts val="700"/>
              </a:spcBef>
              <a:spcAft>
                <a:spcPts val="0"/>
              </a:spcAft>
              <a:buFont typeface="Arial"/>
              <a:buAutoNum type="arabicPeriod"/>
            </a:pPr>
            <a:r>
              <a:rPr lang="en-IN" sz="1600" dirty="0"/>
              <a:t>The nocturnal share of the peak demand rose from </a:t>
            </a:r>
            <a:r>
              <a:rPr lang="en-IN" sz="1600" b="1" dirty="0"/>
              <a:t>25.4% to 39.7%</a:t>
            </a:r>
            <a:r>
              <a:rPr lang="en-IN" sz="1600" dirty="0"/>
              <a:t>, compared across 642 days in each era.</a:t>
            </a:r>
          </a:p>
          <a:p>
            <a:pPr marL="342900" lvl="0" indent="-342900" algn="l">
              <a:lnSpc>
                <a:spcPct val="95000"/>
              </a:lnSpc>
              <a:spcBef>
                <a:spcPts val="700"/>
              </a:spcBef>
              <a:spcAft>
                <a:spcPts val="0"/>
              </a:spcAft>
              <a:buFont typeface="Arial"/>
              <a:buAutoNum type="arabicPeriod" startAt="2"/>
            </a:pPr>
            <a:r>
              <a:rPr lang="en-IN" sz="1600" dirty="0"/>
              <a:t>The evening share dropped from </a:t>
            </a:r>
            <a:r>
              <a:rPr lang="en-IN" sz="1600" b="1" dirty="0"/>
              <a:t>35.8% to 10.0%</a:t>
            </a:r>
            <a:r>
              <a:rPr lang="en-IN" sz="1600" dirty="0"/>
              <a:t> and dissolved into two main attractors at 3 pm and 11 pm.</a:t>
            </a:r>
          </a:p>
          <a:p>
            <a:pPr marL="0" lvl="0" indent="0" algn="l">
              <a:lnSpc>
                <a:spcPct val="95000"/>
              </a:lnSpc>
              <a:spcBef>
                <a:spcPts val="1000"/>
              </a:spcBef>
              <a:spcAft>
                <a:spcPts val="0"/>
              </a:spcAft>
              <a:buNone/>
            </a:pPr>
            <a:r>
              <a:rPr lang="en-IN" sz="1800" b="1" dirty="0"/>
              <a:t>Not a Single Shift, but a Bimodal Transformation</a:t>
            </a:r>
          </a:p>
          <a:p>
            <a:pPr marL="0" lvl="0" indent="0" algn="l">
              <a:lnSpc>
                <a:spcPct val="95000"/>
              </a:lnSpc>
              <a:spcBef>
                <a:spcPts val="400"/>
              </a:spcBef>
              <a:spcAft>
                <a:spcPts val="0"/>
              </a:spcAft>
              <a:buNone/>
            </a:pPr>
            <a:r>
              <a:rPr lang="en-IN" sz="1600" dirty="0"/>
              <a:t>Delhi’s daily peak did not simply move from afternoon to night. The afternoon mode (15:00 IST) actually </a:t>
            </a:r>
            <a:r>
              <a:rPr lang="en-IN" sz="1600" b="1" dirty="0"/>
              <a:t>expanded from 36.6% to 43.3%</a:t>
            </a:r>
            <a:r>
              <a:rPr lang="en-IN" sz="1600" dirty="0"/>
              <a:t> of cooling-season days. The shift was caused by the </a:t>
            </a:r>
            <a:r>
              <a:rPr lang="en-IN" sz="1600" b="1" dirty="0"/>
              <a:t>dissolution of the traditional 19:00 IST evening peak</a:t>
            </a:r>
            <a:r>
              <a:rPr lang="en-IN" sz="1600" dirty="0"/>
              <a:t> (dropping from 24.1% of days to just 1.6%).</a:t>
            </a:r>
          </a:p>
        </p:txBody>
      </p:sp>
      <p:sp>
        <p:nvSpPr>
          <p:cNvPr id="3" name="Slide Number Placeholder 2">
            <a:extLst>
              <a:ext uri="{FF2B5EF4-FFF2-40B4-BE49-F238E27FC236}">
                <a16:creationId xmlns:a16="http://schemas.microsoft.com/office/drawing/2014/main" id="{BDB20FA0-5996-56F3-4F09-2F1B2AF809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
        <p:nvSpPr>
          <p:cNvPr id="4" name="Title 3">
            <a:extLst>
              <a:ext uri="{FF2B5EF4-FFF2-40B4-BE49-F238E27FC236}">
                <a16:creationId xmlns:a16="http://schemas.microsoft.com/office/drawing/2014/main" id="{A43C190D-CD0D-853A-32CB-49D944511746}"/>
              </a:ext>
            </a:extLst>
          </p:cNvPr>
          <p:cNvSpPr>
            <a:spLocks noGrp="1"/>
          </p:cNvSpPr>
          <p:nvPr>
            <p:ph type="title"/>
          </p:nvPr>
        </p:nvSpPr>
        <p:spPr/>
        <p:txBody>
          <a:bodyPr/>
          <a:lstStyle/>
          <a:p>
            <a:r>
              <a:rPr lang="en-IN" dirty="0"/>
              <a:t>The Shift to Bimodal Demand</a:t>
            </a:r>
          </a:p>
        </p:txBody>
      </p:sp>
      <p:pic>
        <p:nvPicPr>
          <p:cNvPr id="6" name="Picture 5">
            <a:extLst>
              <a:ext uri="{FF2B5EF4-FFF2-40B4-BE49-F238E27FC236}">
                <a16:creationId xmlns:a16="http://schemas.microsoft.com/office/drawing/2014/main" id="{0105177E-FE89-7E72-6944-3448243EE335}"/>
              </a:ext>
            </a:extLst>
          </p:cNvPr>
          <p:cNvPicPr>
            <a:picLocks noChangeAspect="1"/>
          </p:cNvPicPr>
          <p:nvPr/>
        </p:nvPicPr>
        <p:blipFill>
          <a:blip r:embed="rId2"/>
          <a:stretch>
            <a:fillRect/>
          </a:stretch>
        </p:blipFill>
        <p:spPr>
          <a:xfrm>
            <a:off x="7247944" y="1000000"/>
            <a:ext cx="4666688" cy="3853989"/>
          </a:xfrm>
          <a:prstGeom prst="rect">
            <a:avLst/>
          </a:prstGeom>
        </p:spPr>
      </p:pic>
      <p:sp>
        <p:nvSpPr>
          <p:cNvPr id="7"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69168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7BA219-803F-E9A5-DC44-9890D86A3C57}"/>
              </a:ext>
            </a:extLst>
          </p:cNvPr>
          <p:cNvSpPr>
            <a:spLocks noGrp="1"/>
          </p:cNvSpPr>
          <p:nvPr>
            <p:ph type="body" idx="1"/>
          </p:nvPr>
        </p:nvSpPr>
        <p:spPr>
          <a:xfrm>
            <a:off x="179832" y="1000000"/>
            <a:ext cx="6743531" cy="4850000"/>
          </a:xfrm>
        </p:spPr>
        <p:txBody>
          <a:bodyPr>
            <a:noAutofit/>
          </a:bodyPr>
          <a:lstStyle/>
          <a:p>
            <a:pPr marL="0" lvl="0" indent="0" algn="l">
              <a:lnSpc>
                <a:spcPct val="95000"/>
              </a:lnSpc>
              <a:spcBef>
                <a:spcPts val="0"/>
              </a:spcBef>
              <a:spcAft>
                <a:spcPts val="0"/>
              </a:spcAft>
              <a:buNone/>
            </a:pPr>
            <a:r>
              <a:rPr lang="en-IN" sz="1800" b="1" dirty="0"/>
              <a:t>Mathematical Precision via Circular Statistics</a:t>
            </a:r>
          </a:p>
          <a:p>
            <a:pPr marL="0" lvl="0" indent="0" algn="l">
              <a:lnSpc>
                <a:spcPct val="95000"/>
              </a:lnSpc>
              <a:spcBef>
                <a:spcPts val="400"/>
              </a:spcBef>
              <a:spcAft>
                <a:spcPts val="0"/>
              </a:spcAft>
              <a:buNone/>
            </a:pPr>
            <a:r>
              <a:rPr lang="en-IN" sz="1600" dirty="0"/>
              <a:t>Converting timestamps into angular vectors (θ = 2πt / 24) avoids midnight boundary errors.</a:t>
            </a:r>
          </a:p>
          <a:p>
            <a:pPr marL="0" lvl="0" indent="0" algn="l">
              <a:lnSpc>
                <a:spcPct val="95000"/>
              </a:lnSpc>
              <a:spcBef>
                <a:spcPts val="700"/>
              </a:spcBef>
              <a:spcAft>
                <a:spcPts val="0"/>
              </a:spcAft>
              <a:buNone/>
            </a:pPr>
            <a:r>
              <a:rPr lang="en-IN" sz="1600" b="1" dirty="0"/>
              <a:t>Results:</a:t>
            </a:r>
          </a:p>
          <a:p>
            <a:pPr marL="342900" lvl="0" indent="-342900" algn="l">
              <a:lnSpc>
                <a:spcPct val="95000"/>
              </a:lnSpc>
              <a:spcBef>
                <a:spcPts val="700"/>
              </a:spcBef>
              <a:spcAft>
                <a:spcPts val="0"/>
              </a:spcAft>
              <a:buFont typeface="+mj-lt"/>
              <a:buAutoNum type="arabicPeriod"/>
            </a:pPr>
            <a:r>
              <a:rPr lang="en-IN" sz="1600" dirty="0"/>
              <a:t>Late-night peaks are centred on </a:t>
            </a:r>
            <a:r>
              <a:rPr lang="en-IN" sz="1600" b="1" dirty="0"/>
              <a:t>23:23 IST</a:t>
            </a:r>
            <a:r>
              <a:rPr lang="en-IN" sz="1600" dirty="0"/>
              <a:t>, based on 1,448 nocturnal days.</a:t>
            </a:r>
          </a:p>
          <a:p>
            <a:pPr marL="342900" lvl="0" indent="-342900" algn="l">
              <a:lnSpc>
                <a:spcPct val="95000"/>
              </a:lnSpc>
              <a:spcBef>
                <a:spcPts val="700"/>
              </a:spcBef>
              <a:spcAft>
                <a:spcPts val="0"/>
              </a:spcAft>
              <a:buFont typeface="+mj-lt"/>
              <a:buAutoNum type="arabicPeriod" startAt="2"/>
            </a:pPr>
            <a:r>
              <a:rPr lang="en-IN" sz="1600" dirty="0"/>
              <a:t>The centre is known to </a:t>
            </a:r>
            <a:r>
              <a:rPr lang="en-IN" sz="1600" b="1" dirty="0"/>
              <a:t>±1.6 minutes</a:t>
            </a:r>
            <a:r>
              <a:rPr lang="en-IN" sz="1600" dirty="0"/>
              <a:t> (95% confidence interval).</a:t>
            </a:r>
          </a:p>
          <a:p>
            <a:pPr marL="342900" lvl="0" indent="-342900" algn="l">
              <a:lnSpc>
                <a:spcPct val="95000"/>
              </a:lnSpc>
              <a:spcBef>
                <a:spcPts val="700"/>
              </a:spcBef>
              <a:spcAft>
                <a:spcPts val="0"/>
              </a:spcAft>
              <a:buFont typeface="+mj-lt"/>
              <a:buAutoNum type="arabicPeriod" startAt="3"/>
            </a:pPr>
            <a:r>
              <a:rPr lang="en-IN" sz="1600" dirty="0"/>
              <a:t>Individual peaks spread more: the typical spread is about 30 minutes either side of the centre.</a:t>
            </a:r>
          </a:p>
          <a:p>
            <a:pPr marL="0" lvl="0" indent="0" algn="l">
              <a:lnSpc>
                <a:spcPct val="95000"/>
              </a:lnSpc>
              <a:spcBef>
                <a:spcPts val="1000"/>
              </a:spcBef>
              <a:spcAft>
                <a:spcPts val="0"/>
              </a:spcAft>
              <a:buNone/>
            </a:pPr>
            <a:r>
              <a:rPr lang="en-IN" sz="1800" b="1" dirty="0"/>
              <a:t>Narrowing the Operational Window</a:t>
            </a:r>
          </a:p>
          <a:p>
            <a:pPr marL="0" lvl="0" indent="0" algn="l">
              <a:lnSpc>
                <a:spcPct val="95000"/>
              </a:lnSpc>
              <a:spcBef>
                <a:spcPts val="400"/>
              </a:spcBef>
              <a:spcAft>
                <a:spcPts val="0"/>
              </a:spcAft>
              <a:buNone/>
            </a:pPr>
            <a:r>
              <a:rPr lang="en-IN" sz="1600" dirty="0"/>
              <a:t>Grid operators historically cited a loose window of 22:00 to 01:00 IST. Sub-hourly meter data narrows the upper bound: </a:t>
            </a:r>
            <a:r>
              <a:rPr lang="en-IN" sz="1600" b="1" dirty="0"/>
              <a:t>all 418 instrument-measured nocturnal peaks</a:t>
            </a:r>
            <a:r>
              <a:rPr lang="en-IN" sz="1600" dirty="0"/>
              <a:t> occur between </a:t>
            </a:r>
            <a:r>
              <a:rPr lang="en-IN" sz="1600" b="1" dirty="0"/>
              <a:t>22:00 and 00:59 IST</a:t>
            </a:r>
            <a:r>
              <a:rPr lang="en-IN" sz="1600" dirty="0"/>
              <a:t> (narrowing the window by 1 hour).</a:t>
            </a:r>
          </a:p>
        </p:txBody>
      </p:sp>
      <p:sp>
        <p:nvSpPr>
          <p:cNvPr id="3" name="Slide Number Placeholder 2">
            <a:extLst>
              <a:ext uri="{FF2B5EF4-FFF2-40B4-BE49-F238E27FC236}">
                <a16:creationId xmlns:a16="http://schemas.microsoft.com/office/drawing/2014/main" id="{218B4751-6410-A565-9430-F5169307942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
        <p:nvSpPr>
          <p:cNvPr id="4" name="Title 3">
            <a:extLst>
              <a:ext uri="{FF2B5EF4-FFF2-40B4-BE49-F238E27FC236}">
                <a16:creationId xmlns:a16="http://schemas.microsoft.com/office/drawing/2014/main" id="{3D6C8CDA-B436-090A-C184-92185C7B3A9F}"/>
              </a:ext>
            </a:extLst>
          </p:cNvPr>
          <p:cNvSpPr>
            <a:spLocks noGrp="1"/>
          </p:cNvSpPr>
          <p:nvPr>
            <p:ph type="title"/>
          </p:nvPr>
        </p:nvSpPr>
        <p:spPr/>
        <p:txBody>
          <a:bodyPr/>
          <a:lstStyle/>
          <a:p>
            <a:r>
              <a:rPr lang="en-IN" dirty="0"/>
              <a:t>The Late-Night Peak Window</a:t>
            </a:r>
          </a:p>
        </p:txBody>
      </p:sp>
      <p:pic>
        <p:nvPicPr>
          <p:cNvPr id="6" name="Picture 5">
            <a:extLst>
              <a:ext uri="{FF2B5EF4-FFF2-40B4-BE49-F238E27FC236}">
                <a16:creationId xmlns:a16="http://schemas.microsoft.com/office/drawing/2014/main" id="{20F70C5D-20AA-1C14-2DFA-D4A04503E16E}"/>
              </a:ext>
            </a:extLst>
          </p:cNvPr>
          <p:cNvPicPr>
            <a:picLocks noChangeAspect="1"/>
          </p:cNvPicPr>
          <p:nvPr/>
        </p:nvPicPr>
        <p:blipFill>
          <a:blip r:embed="rId2"/>
          <a:stretch>
            <a:fillRect/>
          </a:stretch>
        </p:blipFill>
        <p:spPr>
          <a:xfrm>
            <a:off x="7223363" y="1000000"/>
            <a:ext cx="4691269" cy="3607384"/>
          </a:xfrm>
          <a:prstGeom prst="rect">
            <a:avLst/>
          </a:prstGeom>
        </p:spPr>
      </p:pic>
      <p:sp>
        <p:nvSpPr>
          <p:cNvPr id="7"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3347300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3273C-2420-A0CC-C789-5D9ADB9A5C65}"/>
              </a:ext>
            </a:extLst>
          </p:cNvPr>
          <p:cNvSpPr>
            <a:spLocks noGrp="1"/>
          </p:cNvSpPr>
          <p:nvPr>
            <p:ph type="body" idx="1"/>
          </p:nvPr>
        </p:nvSpPr>
        <p:spPr>
          <a:xfrm>
            <a:off x="179832" y="1000000"/>
            <a:ext cx="5723735" cy="4850000"/>
          </a:xfrm>
        </p:spPr>
        <p:txBody>
          <a:bodyPr>
            <a:noAutofit/>
          </a:bodyPr>
          <a:lstStyle/>
          <a:p>
            <a:pPr marL="0" lvl="0" indent="0" algn="l">
              <a:lnSpc>
                <a:spcPct val="95000"/>
              </a:lnSpc>
              <a:spcBef>
                <a:spcPts val="0"/>
              </a:spcBef>
              <a:spcAft>
                <a:spcPts val="0"/>
              </a:spcAft>
              <a:buNone/>
            </a:pPr>
            <a:r>
              <a:rPr lang="en-IN" sz="1800" b="1" dirty="0"/>
              <a:t>The Cooling Trap Threshold.</a:t>
            </a:r>
          </a:p>
          <a:p>
            <a:pPr marL="0" lvl="0" indent="0" algn="l">
              <a:lnSpc>
                <a:spcPct val="95000"/>
              </a:lnSpc>
              <a:spcBef>
                <a:spcPts val="400"/>
              </a:spcBef>
              <a:spcAft>
                <a:spcPts val="0"/>
              </a:spcAft>
              <a:buNone/>
            </a:pPr>
            <a:r>
              <a:rPr lang="en-IN" sz="1600" dirty="0"/>
              <a:t>We fitted a two-slope line to 2,743 cooling-season days. The slope changes at a night minimum of about </a:t>
            </a:r>
            <a:r>
              <a:rPr lang="en-IN" sz="1600" b="1" dirty="0"/>
              <a:t>21.5 °C</a:t>
            </a:r>
            <a:r>
              <a:rPr lang="en-IN" sz="1600" dirty="0"/>
              <a:t> (95% interval 21.25 to 22.5 °C). </a:t>
            </a:r>
          </a:p>
          <a:p>
            <a:pPr marL="285750" lvl="0" indent="-285750" algn="l">
              <a:lnSpc>
                <a:spcPct val="95000"/>
              </a:lnSpc>
              <a:spcBef>
                <a:spcPts val="400"/>
              </a:spcBef>
              <a:spcAft>
                <a:spcPts val="0"/>
              </a:spcAft>
              <a:buFont typeface="Arial"/>
              <a:buChar char="•"/>
            </a:pPr>
            <a:r>
              <a:rPr lang="en-IN" sz="1600" dirty="0"/>
              <a:t>Below 21.5 °C, each extra degree adds about </a:t>
            </a:r>
            <a:r>
              <a:rPr lang="en-IN" sz="1600" b="1" dirty="0"/>
              <a:t>131 MW</a:t>
            </a:r>
            <a:r>
              <a:rPr lang="en-IN" sz="1600" dirty="0"/>
              <a:t>.</a:t>
            </a:r>
          </a:p>
          <a:p>
            <a:pPr marL="285750" lvl="0" indent="-285750" algn="l">
              <a:lnSpc>
                <a:spcPct val="95000"/>
              </a:lnSpc>
              <a:spcBef>
                <a:spcPts val="400"/>
              </a:spcBef>
              <a:spcAft>
                <a:spcPts val="0"/>
              </a:spcAft>
              <a:buFont typeface="Arial"/>
              <a:buChar char="•"/>
            </a:pPr>
            <a:r>
              <a:rPr lang="en-IN" sz="1600" dirty="0"/>
              <a:t>Above 21.5 °C, each extra degree adds about </a:t>
            </a:r>
            <a:r>
              <a:rPr lang="en-IN" sz="1600" b="1" dirty="0"/>
              <a:t>292 MW</a:t>
            </a:r>
            <a:r>
              <a:rPr lang="en-IN" sz="1600" dirty="0"/>
              <a:t>, 2.2 times more.</a:t>
            </a:r>
          </a:p>
          <a:p>
            <a:pPr marL="285750" lvl="0" indent="-285750" algn="l">
              <a:lnSpc>
                <a:spcPct val="95000"/>
              </a:lnSpc>
              <a:spcBef>
                <a:spcPts val="400"/>
              </a:spcBef>
              <a:spcAft>
                <a:spcPts val="0"/>
              </a:spcAft>
              <a:buFont typeface="Arial"/>
              <a:buChar char="•"/>
            </a:pPr>
            <a:r>
              <a:rPr lang="en-IN" sz="1600" dirty="0"/>
              <a:t>Possible explanation: nights stay too warm for fans, so air conditioners run all night.</a:t>
            </a:r>
          </a:p>
          <a:p>
            <a:pPr marL="0" lvl="0" indent="0" algn="l">
              <a:lnSpc>
                <a:spcPct val="95000"/>
              </a:lnSpc>
              <a:spcBef>
                <a:spcPts val="1000"/>
              </a:spcBef>
              <a:spcAft>
                <a:spcPts val="0"/>
              </a:spcAft>
              <a:buNone/>
            </a:pPr>
            <a:r>
              <a:rPr lang="en-IN" sz="1800" b="1" dirty="0"/>
              <a:t>Why It Matters for the Grid </a:t>
            </a:r>
          </a:p>
          <a:p>
            <a:pPr marL="285750" lvl="0" indent="-285750" algn="l">
              <a:lnSpc>
                <a:spcPct val="95000"/>
              </a:lnSpc>
              <a:spcBef>
                <a:spcPts val="400"/>
              </a:spcBef>
              <a:spcAft>
                <a:spcPts val="0"/>
              </a:spcAft>
              <a:buFont typeface="Arial"/>
              <a:buChar char="•"/>
            </a:pPr>
            <a:r>
              <a:rPr lang="en-IN" sz="1600" dirty="0"/>
              <a:t>The threshold is exceeded on </a:t>
            </a:r>
            <a:r>
              <a:rPr lang="en-IN" sz="1600" b="1" dirty="0"/>
              <a:t>81% of cooling-season nights</a:t>
            </a:r>
            <a:r>
              <a:rPr lang="en-IN" sz="1600" dirty="0"/>
              <a:t>, so it is the normal summer condition, not a heatwave.</a:t>
            </a:r>
          </a:p>
          <a:p>
            <a:pPr marL="285750" lvl="0" indent="-285750" algn="l">
              <a:lnSpc>
                <a:spcPct val="95000"/>
              </a:lnSpc>
              <a:spcBef>
                <a:spcPts val="400"/>
              </a:spcBef>
              <a:spcAft>
                <a:spcPts val="0"/>
              </a:spcAft>
              <a:buFont typeface="Arial"/>
              <a:buChar char="•"/>
            </a:pPr>
            <a:r>
              <a:rPr lang="en-IN" sz="1600" dirty="0"/>
              <a:t>Above it, 55% of daily peaks fall at night, against 10% below it.</a:t>
            </a:r>
          </a:p>
          <a:p>
            <a:pPr marL="285750" lvl="0" indent="-285750" algn="l">
              <a:lnSpc>
                <a:spcPct val="95000"/>
              </a:lnSpc>
              <a:spcBef>
                <a:spcPts val="400"/>
              </a:spcBef>
              <a:spcAft>
                <a:spcPts val="0"/>
              </a:spcAft>
              <a:buFont typeface="Arial"/>
              <a:buChar char="•"/>
            </a:pPr>
            <a:r>
              <a:rPr lang="en-IN" sz="1600" dirty="0"/>
              <a:t>Sensitivity is growing: the slope above 21.5 °C rose from 140 MW per °C (2010 to 2012) to 353 (2023 to 2025).</a:t>
            </a:r>
          </a:p>
        </p:txBody>
      </p:sp>
      <p:sp>
        <p:nvSpPr>
          <p:cNvPr id="3" name="Slide Number Placeholder 2">
            <a:extLst>
              <a:ext uri="{FF2B5EF4-FFF2-40B4-BE49-F238E27FC236}">
                <a16:creationId xmlns:a16="http://schemas.microsoft.com/office/drawing/2014/main" id="{CDA477DB-A5E1-E719-3FD3-A34AEEF99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
        <p:nvSpPr>
          <p:cNvPr id="4" name="Title 3">
            <a:extLst>
              <a:ext uri="{FF2B5EF4-FFF2-40B4-BE49-F238E27FC236}">
                <a16:creationId xmlns:a16="http://schemas.microsoft.com/office/drawing/2014/main" id="{A5D7AFF6-B1FA-6233-AEFF-22A7BE94197A}"/>
              </a:ext>
            </a:extLst>
          </p:cNvPr>
          <p:cNvSpPr>
            <a:spLocks noGrp="1"/>
          </p:cNvSpPr>
          <p:nvPr>
            <p:ph type="title"/>
          </p:nvPr>
        </p:nvSpPr>
        <p:spPr/>
        <p:txBody>
          <a:bodyPr/>
          <a:lstStyle/>
          <a:p>
            <a:r>
              <a:rPr lang="en-IN" dirty="0"/>
              <a:t>The “Cooling Trap” (21.5 °C Threshold)</a:t>
            </a:r>
          </a:p>
        </p:txBody>
      </p:sp>
      <p:pic>
        <p:nvPicPr>
          <p:cNvPr id="8" name="Picture 7">
            <a:extLst>
              <a:ext uri="{FF2B5EF4-FFF2-40B4-BE49-F238E27FC236}">
                <a16:creationId xmlns:a16="http://schemas.microsoft.com/office/drawing/2014/main" id="{17AE1F34-40A8-473C-03C9-5C187AC5D639}"/>
              </a:ext>
            </a:extLst>
          </p:cNvPr>
          <p:cNvPicPr>
            <a:picLocks noChangeAspect="1"/>
          </p:cNvPicPr>
          <p:nvPr/>
        </p:nvPicPr>
        <p:blipFill>
          <a:blip r:embed="rId2"/>
          <a:stretch>
            <a:fillRect/>
          </a:stretch>
        </p:blipFill>
        <p:spPr>
          <a:xfrm>
            <a:off x="6203567" y="1000000"/>
            <a:ext cx="5711065" cy="4850000"/>
          </a:xfrm>
          <a:prstGeom prst="rect">
            <a:avLst/>
          </a:prstGeom>
        </p:spPr>
      </p:pic>
      <p:sp>
        <p:nvSpPr>
          <p:cNvPr id="9"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778773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2F243A-60CE-1C40-2DCE-F3B556D4294B}"/>
              </a:ext>
            </a:extLst>
          </p:cNvPr>
          <p:cNvSpPr>
            <a:spLocks noGrp="1"/>
          </p:cNvSpPr>
          <p:nvPr>
            <p:ph type="body" idx="1"/>
          </p:nvPr>
        </p:nvSpPr>
        <p:spPr>
          <a:xfrm>
            <a:off x="179832" y="1000000"/>
            <a:ext cx="7453936" cy="4850000"/>
          </a:xfrm>
        </p:spPr>
        <p:txBody>
          <a:bodyPr>
            <a:noAutofit/>
          </a:bodyPr>
          <a:lstStyle/>
          <a:p>
            <a:pPr marL="0" lvl="0" indent="0" algn="l">
              <a:lnSpc>
                <a:spcPct val="95000"/>
              </a:lnSpc>
              <a:spcBef>
                <a:spcPts val="0"/>
              </a:spcBef>
              <a:spcAft>
                <a:spcPts val="0"/>
              </a:spcAft>
              <a:buNone/>
            </a:pPr>
            <a:r>
              <a:rPr lang="en-IN" sz="1800" b="1" dirty="0"/>
              <a:t>Why Storage.</a:t>
            </a:r>
          </a:p>
          <a:p>
            <a:pPr marL="0" lvl="0" indent="0" algn="l">
              <a:lnSpc>
                <a:spcPct val="95000"/>
              </a:lnSpc>
              <a:spcBef>
                <a:spcPts val="400"/>
              </a:spcBef>
              <a:spcAft>
                <a:spcPts val="0"/>
              </a:spcAft>
              <a:buNone/>
            </a:pPr>
            <a:r>
              <a:rPr lang="en-IN" sz="1600" dirty="0"/>
              <a:t>Solar can serve afternoon demand but not demand after sunset. The late-night peak falls between 22:00 and 00:59, when solar output is zero.</a:t>
            </a:r>
          </a:p>
          <a:p>
            <a:pPr marL="0" lvl="0" indent="0" algn="l">
              <a:lnSpc>
                <a:spcPct val="95000"/>
              </a:lnSpc>
              <a:spcBef>
                <a:spcPts val="1000"/>
              </a:spcBef>
              <a:spcAft>
                <a:spcPts val="0"/>
              </a:spcAft>
              <a:buNone/>
            </a:pPr>
            <a:r>
              <a:rPr lang="en-IN" sz="1800" b="1" dirty="0"/>
              <a:t>How We Sized It </a:t>
            </a:r>
          </a:p>
          <a:p>
            <a:pPr marL="285750" lvl="0" indent="-285750" algn="l">
              <a:lnSpc>
                <a:spcPct val="95000"/>
              </a:lnSpc>
              <a:spcBef>
                <a:spcPts val="400"/>
              </a:spcBef>
              <a:spcAft>
                <a:spcPts val="0"/>
              </a:spcAft>
              <a:buFont typeface="Arial"/>
              <a:buChar char="•"/>
            </a:pPr>
            <a:r>
              <a:rPr lang="en-IN" sz="1600" dirty="0"/>
              <a:t>We took the 229 cooling-season nights (2023 to 2025) whose peak fell at night.</a:t>
            </a:r>
          </a:p>
          <a:p>
            <a:pPr marL="285750" lvl="0" indent="-285750" algn="l">
              <a:lnSpc>
                <a:spcPct val="95000"/>
              </a:lnSpc>
              <a:spcBef>
                <a:spcPts val="400"/>
              </a:spcBef>
              <a:spcAft>
                <a:spcPts val="0"/>
              </a:spcAft>
              <a:buFont typeface="Arial"/>
              <a:buChar char="•"/>
            </a:pPr>
            <a:r>
              <a:rPr lang="en-IN" sz="1600" dirty="0"/>
              <a:t>For each night we measured the load above its 22:00 level until 02:00. That area is the energy to store, and the highest point is the power needed.</a:t>
            </a:r>
          </a:p>
          <a:p>
            <a:pPr marL="285750" lvl="0" indent="-285750" algn="l">
              <a:lnSpc>
                <a:spcPct val="95000"/>
              </a:lnSpc>
              <a:spcBef>
                <a:spcPts val="400"/>
              </a:spcBef>
              <a:spcAft>
                <a:spcPts val="0"/>
              </a:spcAft>
              <a:buFont typeface="Arial"/>
              <a:buChar char="•"/>
            </a:pPr>
            <a:r>
              <a:rPr lang="en-IN" sz="1600" dirty="0"/>
              <a:t>We designed for the 95th-percentile night, then added for battery losses (efficiency 0.88, depth of discharge 0.90).</a:t>
            </a:r>
          </a:p>
          <a:p>
            <a:pPr marL="0" lvl="0" indent="0" algn="l">
              <a:lnSpc>
                <a:spcPct val="95000"/>
              </a:lnSpc>
              <a:spcBef>
                <a:spcPts val="1000"/>
              </a:spcBef>
              <a:spcAft>
                <a:spcPts val="0"/>
              </a:spcAft>
              <a:buNone/>
            </a:pPr>
            <a:r>
              <a:rPr lang="en-IN" sz="1800" b="1" dirty="0"/>
              <a:t>Result </a:t>
            </a:r>
          </a:p>
          <a:p>
            <a:pPr marL="285750" lvl="0" indent="-285750" algn="l">
              <a:lnSpc>
                <a:spcPct val="95000"/>
              </a:lnSpc>
              <a:spcBef>
                <a:spcPts val="400"/>
              </a:spcBef>
              <a:spcAft>
                <a:spcPts val="0"/>
              </a:spcAft>
              <a:buFont typeface="Arial"/>
              <a:buChar char="•"/>
            </a:pPr>
            <a:r>
              <a:rPr lang="en-IN" sz="1600" dirty="0"/>
              <a:t>Usable energy: </a:t>
            </a:r>
            <a:r>
              <a:rPr lang="en-IN" sz="1600" b="1" dirty="0"/>
              <a:t>1,225.5 MWh</a:t>
            </a:r>
            <a:r>
              <a:rPr lang="en-IN" sz="1600" dirty="0"/>
              <a:t>. Installed: </a:t>
            </a:r>
            <a:r>
              <a:rPr lang="en-IN" sz="1600" b="1" dirty="0"/>
              <a:t>1,547.4 MWh</a:t>
            </a:r>
            <a:r>
              <a:rPr lang="en-IN" sz="1600" dirty="0"/>
              <a:t>.</a:t>
            </a:r>
          </a:p>
          <a:p>
            <a:pPr marL="285750" lvl="0" indent="-285750" algn="l">
              <a:lnSpc>
                <a:spcPct val="95000"/>
              </a:lnSpc>
              <a:spcBef>
                <a:spcPts val="400"/>
              </a:spcBef>
              <a:spcAft>
                <a:spcPts val="0"/>
              </a:spcAft>
              <a:buFont typeface="Arial"/>
              <a:buChar char="•"/>
            </a:pPr>
            <a:r>
              <a:rPr lang="en-IN" sz="1600" dirty="0"/>
              <a:t>Power: </a:t>
            </a:r>
            <a:r>
              <a:rPr lang="en-IN" sz="1600" b="1" dirty="0"/>
              <a:t>606.3 MW</a:t>
            </a:r>
            <a:r>
              <a:rPr lang="en-IN" sz="1600" dirty="0"/>
              <a:t>, which is 7.0% of the all-time peak demand.</a:t>
            </a:r>
          </a:p>
          <a:p>
            <a:pPr marL="285750" lvl="0" indent="-285750" algn="l">
              <a:lnSpc>
                <a:spcPct val="95000"/>
              </a:lnSpc>
              <a:spcBef>
                <a:spcPts val="400"/>
              </a:spcBef>
              <a:spcAft>
                <a:spcPts val="0"/>
              </a:spcAft>
              <a:buFont typeface="Arial"/>
              <a:buChar char="•"/>
            </a:pPr>
            <a:r>
              <a:rPr lang="en-IN" sz="1600" dirty="0"/>
              <a:t>It fully flattens </a:t>
            </a:r>
            <a:r>
              <a:rPr lang="en-IN" sz="1600" b="1" dirty="0"/>
              <a:t>93.9%</a:t>
            </a:r>
            <a:r>
              <a:rPr lang="en-IN" sz="1600" dirty="0"/>
              <a:t> of the 229 nights.</a:t>
            </a:r>
          </a:p>
          <a:p>
            <a:pPr marL="0" lvl="0" indent="0" algn="l">
              <a:lnSpc>
                <a:spcPct val="95000"/>
              </a:lnSpc>
              <a:spcBef>
                <a:spcPts val="1000"/>
              </a:spcBef>
              <a:spcAft>
                <a:spcPts val="0"/>
              </a:spcAft>
              <a:buNone/>
            </a:pPr>
            <a:r>
              <a:rPr lang="en-IN" sz="1600" b="1" dirty="0"/>
              <a:t>Treat as a minimum.</a:t>
            </a:r>
            <a:r>
              <a:rPr lang="en-IN" sz="1600" dirty="0"/>
              <a:t> Reserve margin, battery ageing and charging are not included.</a:t>
            </a:r>
          </a:p>
        </p:txBody>
      </p:sp>
      <p:sp>
        <p:nvSpPr>
          <p:cNvPr id="3" name="Slide Number Placeholder 2">
            <a:extLst>
              <a:ext uri="{FF2B5EF4-FFF2-40B4-BE49-F238E27FC236}">
                <a16:creationId xmlns:a16="http://schemas.microsoft.com/office/drawing/2014/main" id="{96D4C52D-E2D5-42C0-1EAA-9882DF69024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
        <p:nvSpPr>
          <p:cNvPr id="4" name="Title 3">
            <a:extLst>
              <a:ext uri="{FF2B5EF4-FFF2-40B4-BE49-F238E27FC236}">
                <a16:creationId xmlns:a16="http://schemas.microsoft.com/office/drawing/2014/main" id="{F7942AA7-8CCD-9A4C-58C7-92A294C9543C}"/>
              </a:ext>
            </a:extLst>
          </p:cNvPr>
          <p:cNvSpPr>
            <a:spLocks noGrp="1"/>
          </p:cNvSpPr>
          <p:nvPr>
            <p:ph type="title"/>
          </p:nvPr>
        </p:nvSpPr>
        <p:spPr/>
        <p:txBody>
          <a:bodyPr/>
          <a:lstStyle/>
          <a:p>
            <a:r>
              <a:rPr lang="en-IN" dirty="0"/>
              <a:t>Battery Energy Storage (BESS) Sizing</a:t>
            </a:r>
          </a:p>
        </p:txBody>
      </p:sp>
      <p:pic>
        <p:nvPicPr>
          <p:cNvPr id="6" name="Picture 5">
            <a:extLst>
              <a:ext uri="{FF2B5EF4-FFF2-40B4-BE49-F238E27FC236}">
                <a16:creationId xmlns:a16="http://schemas.microsoft.com/office/drawing/2014/main" id="{E4F283E9-CC11-EF2B-E4E5-A1A01D82FD8B}"/>
              </a:ext>
            </a:extLst>
          </p:cNvPr>
          <p:cNvPicPr>
            <a:picLocks noChangeAspect="1"/>
          </p:cNvPicPr>
          <p:nvPr/>
        </p:nvPicPr>
        <p:blipFill>
          <a:blip r:embed="rId2"/>
          <a:stretch>
            <a:fillRect/>
          </a:stretch>
        </p:blipFill>
        <p:spPr>
          <a:xfrm>
            <a:off x="7933768" y="1000000"/>
            <a:ext cx="3980864" cy="3180520"/>
          </a:xfrm>
          <a:prstGeom prst="rect">
            <a:avLst/>
          </a:prstGeom>
        </p:spPr>
      </p:pic>
      <p:sp>
        <p:nvSpPr>
          <p:cNvPr id="7"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3206294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6F3A3E-0EAB-E271-7947-8B416206E9EE}"/>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800" b="1" dirty="0"/>
              <a:t>Monthly peak model </a:t>
            </a:r>
          </a:p>
          <a:p>
            <a:pPr marL="285750" lvl="0" indent="-285750" algn="l">
              <a:lnSpc>
                <a:spcPct val="95000"/>
              </a:lnSpc>
              <a:spcBef>
                <a:spcPts val="400"/>
              </a:spcBef>
              <a:spcAft>
                <a:spcPts val="0"/>
              </a:spcAft>
              <a:buFont typeface="Arial"/>
              <a:buChar char="•"/>
            </a:pPr>
            <a:r>
              <a:rPr lang="en-IN" sz="1600" dirty="0"/>
              <a:t>It under-predicts the highest peaks: all 10 held-out annual maxima, by 143 to 981 MW.</a:t>
            </a:r>
          </a:p>
          <a:p>
            <a:pPr marL="285750" lvl="0" indent="-285750" algn="l">
              <a:lnSpc>
                <a:spcPct val="95000"/>
              </a:lnSpc>
              <a:spcBef>
                <a:spcPts val="400"/>
              </a:spcBef>
              <a:spcAft>
                <a:spcPts val="0"/>
              </a:spcAft>
              <a:buFont typeface="Arial"/>
              <a:buChar char="•"/>
            </a:pPr>
            <a:r>
              <a:rPr lang="en-IN" sz="1600" dirty="0"/>
              <a:t>The error band is wide: the empirical 95% interval is −698 to +783 MW.</a:t>
            </a:r>
          </a:p>
          <a:p>
            <a:pPr marL="285750" lvl="0" indent="-285750" algn="l">
              <a:lnSpc>
                <a:spcPct val="95000"/>
              </a:lnSpc>
              <a:spcBef>
                <a:spcPts val="400"/>
              </a:spcBef>
              <a:spcAft>
                <a:spcPts val="0"/>
              </a:spcAft>
              <a:buFont typeface="Arial"/>
              <a:buChar char="•"/>
            </a:pPr>
            <a:r>
              <a:rPr lang="en-IN" sz="1600" dirty="0"/>
              <a:t>Weather adds little at monthly level (R² +0.0095). It is a baseline, not a peak finder.</a:t>
            </a:r>
          </a:p>
          <a:p>
            <a:pPr marL="0" lvl="0" indent="0" algn="l">
              <a:lnSpc>
                <a:spcPct val="95000"/>
              </a:lnSpc>
              <a:spcBef>
                <a:spcPts val="1000"/>
              </a:spcBef>
              <a:spcAft>
                <a:spcPts val="0"/>
              </a:spcAft>
              <a:buNone/>
            </a:pPr>
            <a:r>
              <a:rPr lang="en-IN" sz="1800" b="1" dirty="0"/>
              <a:t>Data </a:t>
            </a:r>
          </a:p>
          <a:p>
            <a:pPr marL="285750" lvl="0" indent="-285750" algn="l">
              <a:lnSpc>
                <a:spcPct val="95000"/>
              </a:lnSpc>
              <a:spcBef>
                <a:spcPts val="400"/>
              </a:spcBef>
              <a:spcAft>
                <a:spcPts val="0"/>
              </a:spcAft>
              <a:buFont typeface="Arial"/>
              <a:buChar char="•"/>
            </a:pPr>
            <a:r>
              <a:rPr lang="en-IN" sz="1600" dirty="0"/>
              <a:t>Weather is daily and city-wide. Most of 2013 to 2022 has only daily peaks.</a:t>
            </a:r>
          </a:p>
          <a:p>
            <a:pPr marL="285750" lvl="0" indent="-285750" algn="l">
              <a:lnSpc>
                <a:spcPct val="95000"/>
              </a:lnSpc>
              <a:spcBef>
                <a:spcPts val="400"/>
              </a:spcBef>
              <a:spcAft>
                <a:spcPts val="0"/>
              </a:spcAft>
              <a:buFont typeface="Arial"/>
              <a:buChar char="•"/>
            </a:pPr>
            <a:r>
              <a:rPr lang="en-IN" sz="1600" dirty="0"/>
              <a:t>Past peaks reflect demand met, which load shedding capped.</a:t>
            </a:r>
          </a:p>
          <a:p>
            <a:pPr marL="0" lvl="0" indent="0" algn="l">
              <a:lnSpc>
                <a:spcPct val="95000"/>
              </a:lnSpc>
              <a:spcBef>
                <a:spcPts val="1000"/>
              </a:spcBef>
              <a:spcAft>
                <a:spcPts val="0"/>
              </a:spcAft>
              <a:buNone/>
            </a:pPr>
            <a:r>
              <a:rPr lang="en-IN" sz="1800" b="1" dirty="0"/>
              <a:t>Cooling Trap and battery </a:t>
            </a:r>
          </a:p>
          <a:p>
            <a:pPr marL="285750" lvl="0" indent="-285750" algn="l">
              <a:lnSpc>
                <a:spcPct val="95000"/>
              </a:lnSpc>
              <a:spcBef>
                <a:spcPts val="400"/>
              </a:spcBef>
              <a:spcAft>
                <a:spcPts val="0"/>
              </a:spcAft>
              <a:buFont typeface="Arial"/>
              <a:buChar char="•"/>
            </a:pPr>
            <a:r>
              <a:rPr lang="en-IN" sz="1600" dirty="0"/>
              <a:t>The 21.5 °C threshold partly reflects the season. Within May to September it moves to about 27.5 °C. The fan to air conditioning cause is not tested.</a:t>
            </a:r>
          </a:p>
          <a:p>
            <a:pPr marL="285750" lvl="0" indent="-285750" algn="l">
              <a:lnSpc>
                <a:spcPct val="95000"/>
              </a:lnSpc>
              <a:spcBef>
                <a:spcPts val="400"/>
              </a:spcBef>
              <a:spcAft>
                <a:spcPts val="0"/>
              </a:spcAft>
              <a:buFont typeface="Arial"/>
              <a:buChar char="•"/>
            </a:pPr>
            <a:r>
              <a:rPr lang="en-IN" sz="1600" dirty="0"/>
              <a:t>The battery size uses 229 nights (2023 to 2025) and one target level. It leaves out reserve margin, ageing and charging, so it is a minimum.</a:t>
            </a:r>
          </a:p>
          <a:p>
            <a:pPr marL="285750" lvl="0" indent="-285750" algn="l">
              <a:lnSpc>
                <a:spcPct val="95000"/>
              </a:lnSpc>
              <a:spcBef>
                <a:spcPts val="400"/>
              </a:spcBef>
              <a:spcAft>
                <a:spcPts val="0"/>
              </a:spcAft>
              <a:buFont typeface="Arial"/>
              <a:buChar char="•"/>
            </a:pPr>
            <a:r>
              <a:rPr lang="en-IN" sz="1600" dirty="0"/>
              <a:t>Only April to October is modelled. Winter is not.</a:t>
            </a:r>
          </a:p>
        </p:txBody>
      </p:sp>
      <p:sp>
        <p:nvSpPr>
          <p:cNvPr id="3" name="Slide Number Placeholder 2">
            <a:extLst>
              <a:ext uri="{FF2B5EF4-FFF2-40B4-BE49-F238E27FC236}">
                <a16:creationId xmlns:a16="http://schemas.microsoft.com/office/drawing/2014/main" id="{19F13A41-5884-C60D-85E6-1B1A69819EE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sp>
        <p:nvSpPr>
          <p:cNvPr id="4" name="Title 3">
            <a:extLst>
              <a:ext uri="{FF2B5EF4-FFF2-40B4-BE49-F238E27FC236}">
                <a16:creationId xmlns:a16="http://schemas.microsoft.com/office/drawing/2014/main" id="{039722D1-6D96-53E6-0AF7-7A1BA6D691A2}"/>
              </a:ext>
            </a:extLst>
          </p:cNvPr>
          <p:cNvSpPr>
            <a:spLocks noGrp="1"/>
          </p:cNvSpPr>
          <p:nvPr>
            <p:ph type="title"/>
          </p:nvPr>
        </p:nvSpPr>
        <p:spPr/>
        <p:txBody>
          <a:bodyPr/>
          <a:lstStyle/>
          <a:p>
            <a:r>
              <a:rPr lang="en-IN" dirty="0"/>
              <a:t>Limitations</a:t>
            </a:r>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3410180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DFE2ED-FE9E-B4DD-82D5-05F15243CFDF}"/>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600" dirty="0"/>
              <a:t>Goal: predict the peak’s month, day and clock time, with a probability for each, using neural networks on long, fine-grained data.</a:t>
            </a:r>
          </a:p>
          <a:p>
            <a:pPr marL="0" lvl="0" indent="0" algn="l">
              <a:lnSpc>
                <a:spcPct val="95000"/>
              </a:lnSpc>
              <a:spcBef>
                <a:spcPts val="1000"/>
              </a:spcBef>
              <a:spcAft>
                <a:spcPts val="0"/>
              </a:spcAft>
              <a:buNone/>
            </a:pPr>
            <a:r>
              <a:rPr lang="en-IN" sz="1800" b="1" dirty="0"/>
              <a:t>Build the dataset </a:t>
            </a:r>
          </a:p>
          <a:p>
            <a:pPr marL="285750" lvl="0" indent="-285750" algn="l">
              <a:lnSpc>
                <a:spcPct val="95000"/>
              </a:lnSpc>
              <a:spcBef>
                <a:spcPts val="400"/>
              </a:spcBef>
              <a:spcAft>
                <a:spcPts val="0"/>
              </a:spcAft>
              <a:buFont typeface="Arial"/>
              <a:buChar char="•"/>
            </a:pPr>
            <a:r>
              <a:rPr lang="en-IN" sz="1600" dirty="0"/>
              <a:t>Collect 5 to 15 minute Delhi load for 2010 to 2025.</a:t>
            </a:r>
          </a:p>
          <a:p>
            <a:pPr marL="285750" lvl="0" indent="-285750" algn="l">
              <a:lnSpc>
                <a:spcPct val="95000"/>
              </a:lnSpc>
              <a:spcBef>
                <a:spcPts val="400"/>
              </a:spcBef>
              <a:spcAft>
                <a:spcPts val="0"/>
              </a:spcAft>
              <a:buFont typeface="Arial"/>
              <a:buChar char="•"/>
            </a:pPr>
            <a:r>
              <a:rPr lang="en-IN" sz="1600" dirty="0"/>
              <a:t>Collect hourly weather for the same years, from several stations across Delhi NCR.</a:t>
            </a:r>
          </a:p>
          <a:p>
            <a:pPr marL="0" lvl="0" indent="0" algn="l">
              <a:lnSpc>
                <a:spcPct val="95000"/>
              </a:lnSpc>
              <a:spcBef>
                <a:spcPts val="1000"/>
              </a:spcBef>
              <a:spcAft>
                <a:spcPts val="0"/>
              </a:spcAft>
              <a:buNone/>
            </a:pPr>
            <a:r>
              <a:rPr lang="en-IN" sz="1800" b="1" dirty="0"/>
              <a:t>Add meaningful variables </a:t>
            </a:r>
          </a:p>
          <a:p>
            <a:pPr marL="285750" lvl="0" indent="-285750" algn="l">
              <a:lnSpc>
                <a:spcPct val="95000"/>
              </a:lnSpc>
              <a:spcBef>
                <a:spcPts val="400"/>
              </a:spcBef>
              <a:spcAft>
                <a:spcPts val="0"/>
              </a:spcAft>
              <a:buFont typeface="Arial"/>
              <a:buChar char="•"/>
            </a:pPr>
            <a:r>
              <a:rPr lang="en-IN" sz="1600" b="1" dirty="0"/>
              <a:t>Weather:</a:t>
            </a:r>
            <a:r>
              <a:rPr lang="en-IN" sz="1600" dirty="0"/>
              <a:t> hourly temperature, dew point, wet-bulb temperature and heat index at 22:00 to 00:00, cloud cover, solar radiation, wind and rain.</a:t>
            </a:r>
          </a:p>
          <a:p>
            <a:pPr marL="285750" lvl="0" indent="-285750" algn="l">
              <a:lnSpc>
                <a:spcPct val="95000"/>
              </a:lnSpc>
              <a:spcBef>
                <a:spcPts val="400"/>
              </a:spcBef>
              <a:spcAft>
                <a:spcPts val="0"/>
              </a:spcAft>
              <a:buFont typeface="Arial"/>
              <a:buChar char="•"/>
            </a:pPr>
            <a:r>
              <a:rPr lang="en-IN" sz="1600" b="1" dirty="0"/>
              <a:t>Heat memory:</a:t>
            </a:r>
            <a:r>
              <a:rPr lang="en-IN" sz="1600" dirty="0"/>
              <a:t> number of consecutive hot days and nights, and heat over the last 3 to 5 days.</a:t>
            </a:r>
          </a:p>
          <a:p>
            <a:pPr marL="285750" lvl="0" indent="-285750" algn="l">
              <a:lnSpc>
                <a:spcPct val="95000"/>
              </a:lnSpc>
              <a:spcBef>
                <a:spcPts val="400"/>
              </a:spcBef>
              <a:spcAft>
                <a:spcPts val="0"/>
              </a:spcAft>
              <a:buFont typeface="Arial"/>
              <a:buChar char="•"/>
            </a:pPr>
            <a:r>
              <a:rPr lang="en-IN" sz="1600" b="1" dirty="0"/>
              <a:t>Calendar:</a:t>
            </a:r>
            <a:r>
              <a:rPr lang="en-IN" sz="1600" dirty="0"/>
              <a:t> holidays, festivals, school vacations, wedding season, elections and big events.</a:t>
            </a:r>
          </a:p>
          <a:p>
            <a:pPr marL="285750" lvl="0" indent="-285750" algn="l">
              <a:lnSpc>
                <a:spcPct val="95000"/>
              </a:lnSpc>
              <a:spcBef>
                <a:spcPts val="400"/>
              </a:spcBef>
              <a:spcAft>
                <a:spcPts val="0"/>
              </a:spcAft>
              <a:buFont typeface="Arial"/>
              <a:buChar char="•"/>
            </a:pPr>
            <a:r>
              <a:rPr lang="en-IN" sz="1600" b="1" dirty="0"/>
              <a:t>Load history:</a:t>
            </a:r>
            <a:r>
              <a:rPr lang="en-IN" sz="1600" dirty="0"/>
              <a:t> yesterday’s load at the same time, and last week’s. In our test, yesterday’s peak alone raised daily R² from 0.85 to 0.95.</a:t>
            </a:r>
          </a:p>
          <a:p>
            <a:pPr marL="285750" lvl="0" indent="-285750" algn="l">
              <a:lnSpc>
                <a:spcPct val="95000"/>
              </a:lnSpc>
              <a:spcBef>
                <a:spcPts val="400"/>
              </a:spcBef>
              <a:spcAft>
                <a:spcPts val="0"/>
              </a:spcAft>
              <a:buFont typeface="Arial"/>
              <a:buChar char="•"/>
            </a:pPr>
            <a:r>
              <a:rPr lang="en-IN" sz="1600" b="1" dirty="0"/>
              <a:t>Demand drivers:</a:t>
            </a:r>
            <a:r>
              <a:rPr lang="en-IN" sz="1600" dirty="0"/>
              <a:t> air conditioner stock, population and economic activity, rooftop solar, EV charging.</a:t>
            </a:r>
          </a:p>
          <a:p>
            <a:pPr marL="285750" lvl="0" indent="-285750" algn="l">
              <a:lnSpc>
                <a:spcPct val="95000"/>
              </a:lnSpc>
              <a:spcBef>
                <a:spcPts val="400"/>
              </a:spcBef>
              <a:spcAft>
                <a:spcPts val="0"/>
              </a:spcAft>
              <a:buFont typeface="Arial"/>
              <a:buChar char="•"/>
            </a:pPr>
            <a:r>
              <a:rPr lang="en-IN" sz="1600" b="1" dirty="0"/>
              <a:t>Grid data:</a:t>
            </a:r>
            <a:r>
              <a:rPr lang="en-IN" sz="1600" dirty="0"/>
              <a:t> load shedding and outages (to know the real demand), solar output, and electricity prices.</a:t>
            </a:r>
          </a:p>
        </p:txBody>
      </p:sp>
      <p:sp>
        <p:nvSpPr>
          <p:cNvPr id="3" name="Slide Number Placeholder 2">
            <a:extLst>
              <a:ext uri="{FF2B5EF4-FFF2-40B4-BE49-F238E27FC236}">
                <a16:creationId xmlns:a16="http://schemas.microsoft.com/office/drawing/2014/main" id="{ADE3517D-B41B-73FA-35CB-B3F533F9D80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sp>
        <p:nvSpPr>
          <p:cNvPr id="4" name="Title 3">
            <a:extLst>
              <a:ext uri="{FF2B5EF4-FFF2-40B4-BE49-F238E27FC236}">
                <a16:creationId xmlns:a16="http://schemas.microsoft.com/office/drawing/2014/main" id="{002977E6-4642-ACDA-74C0-F35F1DD0F5A7}"/>
              </a:ext>
            </a:extLst>
          </p:cNvPr>
          <p:cNvSpPr>
            <a:spLocks noGrp="1"/>
          </p:cNvSpPr>
          <p:nvPr>
            <p:ph type="title"/>
          </p:nvPr>
        </p:nvSpPr>
        <p:spPr/>
        <p:txBody>
          <a:bodyPr/>
          <a:lstStyle/>
          <a:p>
            <a:r>
              <a:rPr lang="en-US" dirty="0"/>
              <a:t>Future Scope</a:t>
            </a:r>
            <a:endParaRPr lang="en-IN" dirty="0"/>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843226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DFE2ED-FE9E-B4DD-82D5-05F15243CFDF}"/>
              </a:ext>
            </a:extLst>
          </p:cNvPr>
          <p:cNvSpPr>
            <a:spLocks noGrp="1"/>
          </p:cNvSpPr>
          <p:nvPr>
            <p:ph type="body" idx="1"/>
          </p:nvPr>
        </p:nvSpPr>
        <p:spPr>
          <a:xfrm>
            <a:off x="179832" y="1000000"/>
            <a:ext cx="11734800" cy="4850000"/>
          </a:xfrm>
        </p:spPr>
        <p:txBody>
          <a:bodyPr>
            <a:noAutofit/>
          </a:bodyPr>
          <a:lstStyle/>
          <a:p>
            <a:pPr marL="0" lvl="0" indent="0" algn="l">
              <a:lnSpc>
                <a:spcPct val="95000"/>
              </a:lnSpc>
              <a:spcBef>
                <a:spcPts val="0"/>
              </a:spcBef>
              <a:spcAft>
                <a:spcPts val="0"/>
              </a:spcAft>
              <a:buNone/>
            </a:pPr>
            <a:r>
              <a:rPr lang="en-IN" sz="1800" b="1" dirty="0"/>
              <a:t>Build the model </a:t>
            </a:r>
          </a:p>
          <a:p>
            <a:pPr marL="285750" lvl="0" indent="-285750" algn="l">
              <a:lnSpc>
                <a:spcPct val="95000"/>
              </a:lnSpc>
              <a:spcBef>
                <a:spcPts val="400"/>
              </a:spcBef>
              <a:spcAft>
                <a:spcPts val="0"/>
              </a:spcAft>
              <a:buFont typeface="Arial"/>
              <a:buChar char="•"/>
            </a:pPr>
            <a:r>
              <a:rPr lang="en-IN" sz="1600" dirty="0"/>
              <a:t>A sequence network (LSTM, GRU or Transformer) reads the last 7 days of load and weather. It predicts the next 24 hours of load every 15 minutes.</a:t>
            </a:r>
          </a:p>
          <a:p>
            <a:pPr marL="285750" lvl="0" indent="-285750" algn="l">
              <a:lnSpc>
                <a:spcPct val="95000"/>
              </a:lnSpc>
              <a:spcBef>
                <a:spcPts val="400"/>
              </a:spcBef>
              <a:spcAft>
                <a:spcPts val="0"/>
              </a:spcAft>
              <a:buFont typeface="Arial"/>
              <a:buChar char="•"/>
            </a:pPr>
            <a:r>
              <a:rPr lang="en-IN" sz="1600" dirty="0"/>
              <a:t>The peak size and time come from that predicted curve.</a:t>
            </a:r>
          </a:p>
          <a:p>
            <a:pPr marL="285750" lvl="0" indent="-285750" algn="l">
              <a:lnSpc>
                <a:spcPct val="95000"/>
              </a:lnSpc>
              <a:spcBef>
                <a:spcPts val="400"/>
              </a:spcBef>
              <a:spcAft>
                <a:spcPts val="0"/>
              </a:spcAft>
              <a:buFont typeface="Arial"/>
              <a:buChar char="•"/>
            </a:pPr>
            <a:r>
              <a:rPr lang="en-IN" sz="1600" dirty="0"/>
              <a:t>Quantile outputs give an upper bound, to fix the under-prediction of peaks.</a:t>
            </a:r>
          </a:p>
          <a:p>
            <a:pPr marL="0" lvl="0" indent="0" algn="l">
              <a:lnSpc>
                <a:spcPct val="95000"/>
              </a:lnSpc>
              <a:spcBef>
                <a:spcPts val="1000"/>
              </a:spcBef>
              <a:spcAft>
                <a:spcPts val="0"/>
              </a:spcAft>
              <a:buNone/>
            </a:pPr>
            <a:r>
              <a:rPr lang="en-IN" sz="1800" b="1" dirty="0"/>
              <a:t>Test it honestly </a:t>
            </a:r>
          </a:p>
          <a:p>
            <a:pPr marL="285750" lvl="0" indent="-285750" algn="l">
              <a:lnSpc>
                <a:spcPct val="95000"/>
              </a:lnSpc>
              <a:spcBef>
                <a:spcPts val="400"/>
              </a:spcBef>
              <a:spcAft>
                <a:spcPts val="0"/>
              </a:spcAft>
              <a:buFont typeface="Arial"/>
              <a:buChar char="•"/>
            </a:pPr>
            <a:r>
              <a:rPr lang="en-IN" sz="1600" dirty="0"/>
              <a:t>Test year by year, always predicting later years from earlier ones.</a:t>
            </a:r>
          </a:p>
          <a:p>
            <a:pPr marL="285750" lvl="0" indent="-285750" algn="l">
              <a:lnSpc>
                <a:spcPct val="95000"/>
              </a:lnSpc>
              <a:spcBef>
                <a:spcPts val="400"/>
              </a:spcBef>
              <a:spcAft>
                <a:spcPts val="0"/>
              </a:spcAft>
              <a:buFont typeface="Arial"/>
              <a:buChar char="•"/>
            </a:pPr>
            <a:r>
              <a:rPr lang="en-IN" sz="1600" dirty="0"/>
              <a:t>Beat our Ridge and gradient boosting baselines.</a:t>
            </a:r>
          </a:p>
          <a:p>
            <a:pPr marL="285750" lvl="0" indent="-285750" algn="l">
              <a:lnSpc>
                <a:spcPct val="95000"/>
              </a:lnSpc>
              <a:spcBef>
                <a:spcPts val="400"/>
              </a:spcBef>
              <a:spcAft>
                <a:spcPts val="0"/>
              </a:spcAft>
              <a:buFont typeface="Arial"/>
              <a:buChar char="•"/>
            </a:pPr>
            <a:r>
              <a:rPr lang="en-IN" sz="1600" dirty="0"/>
              <a:t>Report peak error in MW, how often the peak time is within 30 minutes, and the afternoon-or-night call.</a:t>
            </a:r>
          </a:p>
          <a:p>
            <a:pPr marL="0" lvl="0" indent="0" algn="l">
              <a:lnSpc>
                <a:spcPct val="95000"/>
              </a:lnSpc>
              <a:spcBef>
                <a:spcPts val="1000"/>
              </a:spcBef>
              <a:spcAft>
                <a:spcPts val="0"/>
              </a:spcAft>
              <a:buNone/>
            </a:pPr>
            <a:r>
              <a:rPr lang="en-IN" sz="1800" b="1" dirty="0"/>
              <a:t>Use it </a:t>
            </a:r>
          </a:p>
          <a:p>
            <a:pPr marL="285750" lvl="0" indent="-285750" algn="l">
              <a:lnSpc>
                <a:spcPct val="95000"/>
              </a:lnSpc>
              <a:spcBef>
                <a:spcPts val="400"/>
              </a:spcBef>
              <a:spcAft>
                <a:spcPts val="0"/>
              </a:spcAft>
              <a:buFont typeface="Arial"/>
              <a:buChar char="•"/>
            </a:pPr>
            <a:r>
              <a:rPr lang="en-IN" sz="1600" dirty="0"/>
              <a:t>Use the forecasts to schedule battery charging and discharging, and update the battery size with reserve and ageing.</a:t>
            </a:r>
          </a:p>
        </p:txBody>
      </p:sp>
      <p:sp>
        <p:nvSpPr>
          <p:cNvPr id="3" name="Slide Number Placeholder 2">
            <a:extLst>
              <a:ext uri="{FF2B5EF4-FFF2-40B4-BE49-F238E27FC236}">
                <a16:creationId xmlns:a16="http://schemas.microsoft.com/office/drawing/2014/main" id="{ADE3517D-B41B-73FA-35CB-B3F533F9D80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sp>
        <p:nvSpPr>
          <p:cNvPr id="4" name="Title 3">
            <a:extLst>
              <a:ext uri="{FF2B5EF4-FFF2-40B4-BE49-F238E27FC236}">
                <a16:creationId xmlns:a16="http://schemas.microsoft.com/office/drawing/2014/main" id="{002977E6-4642-ACDA-74C0-F35F1DD0F5A7}"/>
              </a:ext>
            </a:extLst>
          </p:cNvPr>
          <p:cNvSpPr>
            <a:spLocks noGrp="1"/>
          </p:cNvSpPr>
          <p:nvPr>
            <p:ph type="title"/>
          </p:nvPr>
        </p:nvSpPr>
        <p:spPr/>
        <p:txBody>
          <a:bodyPr/>
          <a:lstStyle/>
          <a:p>
            <a:r>
              <a:rPr lang="en-US" dirty="0"/>
              <a:t>Future Scope (continued)</a:t>
            </a:r>
            <a:endParaRPr lang="en-IN" dirty="0"/>
          </a:p>
        </p:txBody>
      </p:sp>
      <p:sp>
        <p:nvSpPr>
          <p:cNvPr id="5" name="Google Shape;50;p2"/>
          <p:cNvSpPr txBox="1"/>
          <p:nvPr/>
        </p:nvSpPr>
        <p:spPr>
          <a:xfrm>
            <a:off x="3302000" y="6029809"/>
            <a:ext cx="6534287" cy="523180"/>
          </a:xfrm>
          <a:prstGeom prst="rect">
            <a:avLst/>
          </a:prstGeom>
          <a:solidFill>
            <a:schemeClr val="lt1"/>
          </a:solidFill>
          <a:ln>
            <a:noFill/>
          </a:ln>
        </p:spPr>
        <p:txBody>
          <a:bodyPr spcFirstLastPara="1" wrap="square" lIns="91425" tIns="45700" rIns="91425" bIns="45700" anchor="t" anchorCtr="0">
            <a:spAutoFit/>
          </a:bodyPr>
          <a:lstStyle/>
          <a:p>
            <a:pPr lvl="0"/>
            <a:r>
              <a:rPr lang="en-IN" dirty="0"/>
              <a:t>From Diurnal to Bimodal: Measuring the Nocturnal Shift in Delhi’s Peak Electricity Demand from Daily Peak-Timing Records </a:t>
            </a:r>
            <a:r>
              <a:rPr lang="en-US" sz="1400" b="1" i="1" dirty="0">
                <a:solidFill>
                  <a:srgbClr val="002060"/>
                </a:solidFill>
                <a:latin typeface="Arial"/>
                <a:ea typeface="Arial"/>
                <a:cs typeface="Arial"/>
                <a:sym typeface="Arial"/>
              </a:rPr>
              <a:t>– </a:t>
            </a:r>
            <a:r>
              <a:rPr lang="en-US" b="1" i="1" dirty="0">
                <a:solidFill>
                  <a:srgbClr val="002060"/>
                </a:solidFill>
              </a:rPr>
              <a:t>Swastik Verma</a:t>
            </a:r>
            <a:endParaRPr dirty="0"/>
          </a:p>
        </p:txBody>
      </p:sp>
    </p:spTree>
    <p:extLst>
      <p:ext uri="{BB962C8B-B14F-4D97-AF65-F5344CB8AC3E}">
        <p14:creationId xmlns:p14="http://schemas.microsoft.com/office/powerpoint/2010/main" val="843226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3"/>
          <p:cNvSpPr txBox="1">
            <a:spLocks noGrp="1"/>
          </p:cNvSpPr>
          <p:nvPr>
            <p:ph type="ctrTitle"/>
          </p:nvPr>
        </p:nvSpPr>
        <p:spPr>
          <a:xfrm>
            <a:off x="1524000" y="2272403"/>
            <a:ext cx="9144000" cy="102959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Font typeface="Arial"/>
              <a:buNone/>
            </a:pPr>
            <a:r>
              <a:rPr lang="en-US">
                <a:solidFill>
                  <a:srgbClr val="7030A0"/>
                </a:solidFill>
              </a:rPr>
              <a:t>Thank You</a:t>
            </a:r>
            <a:endParaRPr/>
          </a:p>
        </p:txBody>
      </p:sp>
      <p:sp>
        <p:nvSpPr>
          <p:cNvPr id="56" name="Google Shape;56;p3"/>
          <p:cNvSpPr txBox="1">
            <a:spLocks noGrp="1"/>
          </p:cNvSpPr>
          <p:nvPr>
            <p:ph type="subTitle" idx="1"/>
          </p:nvPr>
        </p:nvSpPr>
        <p:spPr>
          <a:xfrm>
            <a:off x="1524000" y="3556001"/>
            <a:ext cx="9144000" cy="1791279"/>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00B050"/>
              </a:buClr>
              <a:buSzPts val="3200"/>
              <a:buNone/>
            </a:pPr>
            <a:r>
              <a:rPr lang="en-US" sz="3200" dirty="0">
                <a:solidFill>
                  <a:srgbClr val="00B050"/>
                </a:solidFill>
              </a:rPr>
              <a:t>Swastik verma</a:t>
            </a:r>
            <a:endParaRPr dirty="0"/>
          </a:p>
          <a:p>
            <a:pPr marL="0" lvl="0" indent="0" algn="ctr" rtl="0">
              <a:lnSpc>
                <a:spcPct val="150000"/>
              </a:lnSpc>
              <a:spcBef>
                <a:spcPts val="1240"/>
              </a:spcBef>
              <a:spcAft>
                <a:spcPts val="0"/>
              </a:spcAft>
              <a:buClr>
                <a:srgbClr val="00B050"/>
              </a:buClr>
              <a:buSzPts val="3200"/>
              <a:buNone/>
            </a:pPr>
            <a:r>
              <a:rPr lang="en-US" sz="3200" dirty="0">
                <a:solidFill>
                  <a:srgbClr val="00B050"/>
                </a:solidFill>
              </a:rPr>
              <a:t>onamverma8@gmail.com</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808</TotalTime>
  <Words>2708</Words>
  <Application>Microsoft Office PowerPoint</Application>
  <PresentationFormat>Widescreen</PresentationFormat>
  <Paragraphs>173</Paragraphs>
  <Slides>15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Cambria</vt:lpstr>
      <vt:lpstr>Office Theme</vt:lpstr>
      <vt:lpstr>From Diurnal to Bimodal: Measuring the Nocturnal Shift in Delhi’s Peak Electricity Demand from Daily Peak-Timing Records</vt:lpstr>
      <vt:lpstr>Problem Statement</vt:lpstr>
      <vt:lpstr>Research Objective</vt:lpstr>
      <vt:lpstr>Dataset </vt:lpstr>
      <vt:lpstr>Feature Engineering</vt:lpstr>
      <vt:lpstr>Magnitude Model: Specification</vt:lpstr>
      <vt:lpstr>Magnitude Model: Performance</vt:lpstr>
      <vt:lpstr>The Shift to Bimodal Demand</vt:lpstr>
      <vt:lpstr>The Late-Night Peak Window</vt:lpstr>
      <vt:lpstr>The “Cooling Trap” (21.5 °C Threshold)</vt:lpstr>
      <vt:lpstr>Battery Energy Storage (BESS) Sizing</vt:lpstr>
      <vt:lpstr>Limitations</vt:lpstr>
      <vt:lpstr>Future Scope</vt:lpstr>
      <vt:lpstr>Future Scope (continued)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K V V S R</dc:creator>
  <cp:lastModifiedBy>swastik verma</cp:lastModifiedBy>
  <cp:revision>8</cp:revision>
  <dcterms:created xsi:type="dcterms:W3CDTF">2025-04-19T11:23:40Z</dcterms:created>
  <dcterms:modified xsi:type="dcterms:W3CDTF">2026-10-18T11:57:08Z</dcterms:modified>
</cp:coreProperties>
</file>